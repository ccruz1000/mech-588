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1" r:id="rId2"/>
    <p:sldId id="275" r:id="rId3"/>
    <p:sldId id="290" r:id="rId4"/>
    <p:sldId id="292" r:id="rId5"/>
    <p:sldId id="293" r:id="rId6"/>
    <p:sldId id="294" r:id="rId7"/>
    <p:sldId id="295" r:id="rId8"/>
    <p:sldId id="297" r:id="rId9"/>
    <p:sldId id="296" r:id="rId10"/>
    <p:sldId id="298" r:id="rId11"/>
    <p:sldId id="299" r:id="rId12"/>
    <p:sldId id="300" r:id="rId13"/>
    <p:sldId id="301" r:id="rId14"/>
    <p:sldId id="291" r:id="rId15"/>
  </p:sldIdLst>
  <p:sldSz cx="9144000" cy="6858000" type="screen4x3"/>
  <p:notesSz cx="6858000" cy="9144000"/>
  <p:defaultTextStyle>
    <a:defPPr>
      <a:defRPr lang="en-US"/>
    </a:defPPr>
    <a:lvl1pPr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orient="horz" pos="1584">
          <p15:clr>
            <a:srgbClr val="A4A3A4"/>
          </p15:clr>
        </p15:guide>
        <p15:guide id="3" orient="horz" pos="1296">
          <p15:clr>
            <a:srgbClr val="A4A3A4"/>
          </p15:clr>
        </p15:guide>
        <p15:guide id="4" orient="horz" pos="1008">
          <p15:clr>
            <a:srgbClr val="A4A3A4"/>
          </p15:clr>
        </p15:guide>
        <p15:guide id="5" orient="horz" pos="1440">
          <p15:clr>
            <a:srgbClr val="A4A3A4"/>
          </p15:clr>
        </p15:guide>
        <p15:guide id="6" orient="horz" pos="1872">
          <p15:clr>
            <a:srgbClr val="A4A3A4"/>
          </p15:clr>
        </p15:guide>
        <p15:guide id="7" orient="horz" pos="1728">
          <p15:clr>
            <a:srgbClr val="A4A3A4"/>
          </p15:clr>
        </p15:guide>
        <p15:guide id="8" orient="horz" pos="1152">
          <p15:clr>
            <a:srgbClr val="A4A3A4"/>
          </p15:clr>
        </p15:guide>
        <p15:guide id="9" pos="2880">
          <p15:clr>
            <a:srgbClr val="A4A3A4"/>
          </p15:clr>
        </p15:guide>
        <p15:guide id="10" pos="1728">
          <p15:clr>
            <a:srgbClr val="A4A3A4"/>
          </p15:clr>
        </p15:guide>
        <p15:guide id="11" pos="721">
          <p15:clr>
            <a:srgbClr val="A4A3A4"/>
          </p15:clr>
        </p15:guide>
        <p15:guide id="12" pos="1144">
          <p15:clr>
            <a:srgbClr val="A4A3A4"/>
          </p15:clr>
        </p15:guide>
        <p15:guide id="13" pos="3455">
          <p15:clr>
            <a:srgbClr val="A4A3A4"/>
          </p15:clr>
        </p15:guide>
        <p15:guide id="14" pos="5184">
          <p15:clr>
            <a:srgbClr val="A4A3A4"/>
          </p15:clr>
        </p15:guide>
        <p15:guide id="15" pos="2305">
          <p15:clr>
            <a:srgbClr val="A4A3A4"/>
          </p15:clr>
        </p15:guide>
        <p15:guide id="16" pos="403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69"/>
    <p:restoredTop sz="72503" autoAdjust="0"/>
  </p:normalViewPr>
  <p:slideViewPr>
    <p:cSldViewPr snapToObjects="1">
      <p:cViewPr varScale="1">
        <p:scale>
          <a:sx n="83" d="100"/>
          <a:sy n="83" d="100"/>
        </p:scale>
        <p:origin x="3000" y="84"/>
      </p:cViewPr>
      <p:guideLst>
        <p:guide orient="horz" pos="2160"/>
        <p:guide orient="horz" pos="1584"/>
        <p:guide orient="horz" pos="1296"/>
        <p:guide orient="horz" pos="1008"/>
        <p:guide orient="horz" pos="1440"/>
        <p:guide orient="horz" pos="1872"/>
        <p:guide orient="horz" pos="1728"/>
        <p:guide orient="horz" pos="1152"/>
        <p:guide pos="2880"/>
        <p:guide pos="1728"/>
        <p:guide pos="721"/>
        <p:guide pos="1144"/>
        <p:guide pos="3455"/>
        <p:guide pos="5184"/>
        <p:guide pos="2305"/>
        <p:guide pos="40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napToObjects="1">
      <p:cViewPr varScale="1">
        <p:scale>
          <a:sx n="99" d="100"/>
          <a:sy n="99" d="100"/>
        </p:scale>
        <p:origin x="300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7F7C36-8D33-BF4D-9E52-3E6C6B03E5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1A7B4290-F3C6-3B48-808C-9F7DFC2A8339}"/>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F79C43A4-A1F2-6D42-8380-AB18E613170B}" type="datetime1">
              <a:rPr lang="en-US" altLang="en-US"/>
              <a:pPr>
                <a:defRPr/>
              </a:pPr>
              <a:t>3/26/2023</a:t>
            </a:fld>
            <a:endParaRPr lang="en-US" altLang="en-US"/>
          </a:p>
        </p:txBody>
      </p:sp>
      <p:sp>
        <p:nvSpPr>
          <p:cNvPr id="4" name="Slide Image Placeholder 3">
            <a:extLst>
              <a:ext uri="{FF2B5EF4-FFF2-40B4-BE49-F238E27FC236}">
                <a16:creationId xmlns:a16="http://schemas.microsoft.com/office/drawing/2014/main" id="{777429D2-FE4E-8049-B9E7-639D82EE866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DD662C7-9FAF-DC47-9A80-C8670B6C672C}"/>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endParaRPr lang="en-US" noProof="0"/>
          </a:p>
        </p:txBody>
      </p:sp>
      <p:sp>
        <p:nvSpPr>
          <p:cNvPr id="6" name="Footer Placeholder 5">
            <a:extLst>
              <a:ext uri="{FF2B5EF4-FFF2-40B4-BE49-F238E27FC236}">
                <a16:creationId xmlns:a16="http://schemas.microsoft.com/office/drawing/2014/main" id="{C3B0A419-F32E-E347-9A2D-E7E448D4EDCA}"/>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99AB338B-CF3E-E441-B8C6-15C04D55B9D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B7691AA-557C-9F4F-A809-5A1E08E0715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paper the following values are given, however the author states there is a range of acceptable values</a:t>
            </a:r>
          </a:p>
          <a:p>
            <a:r>
              <a:rPr lang="en-US" dirty="0"/>
              <a:t>Sigma – 2/3</a:t>
            </a:r>
          </a:p>
          <a:p>
            <a:r>
              <a:rPr lang="en-US" dirty="0"/>
              <a:t>Cb1 – 0.1355</a:t>
            </a:r>
          </a:p>
          <a:p>
            <a:r>
              <a:rPr lang="en-US" dirty="0"/>
              <a:t>Cb2 – 0.622</a:t>
            </a:r>
          </a:p>
          <a:p>
            <a:endParaRPr lang="en-US" dirty="0"/>
          </a:p>
          <a:p>
            <a:r>
              <a:rPr lang="en-US" dirty="0"/>
              <a:t>The non-linear term was calibrated using experimental data.</a:t>
            </a:r>
          </a:p>
          <a:p>
            <a:endParaRPr lang="en-US" dirty="0"/>
          </a:p>
          <a:p>
            <a:r>
              <a:rPr lang="en-US" dirty="0"/>
              <a:t>The non-linear term is often treated as a source term. </a:t>
            </a:r>
          </a:p>
          <a:p>
            <a:endParaRPr lang="en-US" dirty="0"/>
          </a:p>
          <a:p>
            <a:r>
              <a:rPr lang="en-US" dirty="0"/>
              <a:t>d in the destruction term represents the distance to the nearest wall. </a:t>
            </a:r>
          </a:p>
          <a:p>
            <a:endParaRPr lang="en-US" dirty="0"/>
          </a:p>
          <a:p>
            <a:r>
              <a:rPr lang="en-US" dirty="0"/>
              <a:t>As you approach the wall, turbulence is destroyed by viscosity and inviscid blocking. The destructor term takes this into account. As d approaches 0, </a:t>
            </a:r>
            <a:r>
              <a:rPr lang="en-US" dirty="0" err="1"/>
              <a:t>fw</a:t>
            </a:r>
            <a:r>
              <a:rPr lang="en-US" dirty="0"/>
              <a:t> also approaches 0, preventing divide by 0 errors.  </a:t>
            </a:r>
            <a:endParaRPr lang="en-CA" dirty="0"/>
          </a:p>
        </p:txBody>
      </p:sp>
      <p:sp>
        <p:nvSpPr>
          <p:cNvPr id="4" name="Slide Number Placeholder 3"/>
          <p:cNvSpPr>
            <a:spLocks noGrp="1"/>
          </p:cNvSpPr>
          <p:nvPr>
            <p:ph type="sldNum" sz="quarter" idx="5"/>
          </p:nvPr>
        </p:nvSpPr>
        <p:spPr/>
        <p:txBody>
          <a:bodyPr/>
          <a:lstStyle/>
          <a:p>
            <a:pPr>
              <a:defRPr/>
            </a:pPr>
            <a:fld id="{DB7691AA-557C-9F4F-A809-5A1E08E07155}" type="slidenum">
              <a:rPr lang="en-US" altLang="en-US" smtClean="0"/>
              <a:pPr>
                <a:defRPr/>
              </a:pPr>
              <a:t>8</a:t>
            </a:fld>
            <a:endParaRPr lang="en-US" altLang="en-US"/>
          </a:p>
        </p:txBody>
      </p:sp>
    </p:spTree>
    <p:extLst>
      <p:ext uri="{BB962C8B-B14F-4D97-AF65-F5344CB8AC3E}">
        <p14:creationId xmlns:p14="http://schemas.microsoft.com/office/powerpoint/2010/main" val="525061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destructor term on the previous slide only covers inviscid turbulence destruction. The fv1 term shown here imposes the viscous turbulence destruction. Remember when we previously showed that near the wall, the turbulent viscosity had a 4</a:t>
            </a:r>
            <a:r>
              <a:rPr lang="en-US" baseline="30000" dirty="0"/>
              <a:t>th</a:t>
            </a:r>
            <a:r>
              <a:rPr lang="en-US" dirty="0"/>
              <a:t> order profile, but we approximated it with a linear function in the modified turbulent viscosity. This function fv1 imposes the 4</a:t>
            </a:r>
            <a:r>
              <a:rPr lang="en-US" baseline="30000" dirty="0"/>
              <a:t>th</a:t>
            </a:r>
            <a:r>
              <a:rPr lang="en-US" dirty="0"/>
              <a:t> order solution on the turbulent viscosity, which near the wall results in viscous destruction of turbulence. Further away from the wall, the modified turbulent viscosity approaches the flow viscosity, resulting in a linear profile again. </a:t>
            </a:r>
            <a:endParaRPr lang="en-CA" dirty="0"/>
          </a:p>
        </p:txBody>
      </p:sp>
      <p:sp>
        <p:nvSpPr>
          <p:cNvPr id="4" name="Slide Number Placeholder 3"/>
          <p:cNvSpPr>
            <a:spLocks noGrp="1"/>
          </p:cNvSpPr>
          <p:nvPr>
            <p:ph type="sldNum" sz="quarter" idx="5"/>
          </p:nvPr>
        </p:nvSpPr>
        <p:spPr/>
        <p:txBody>
          <a:bodyPr/>
          <a:lstStyle/>
          <a:p>
            <a:pPr>
              <a:defRPr/>
            </a:pPr>
            <a:fld id="{DB7691AA-557C-9F4F-A809-5A1E08E07155}" type="slidenum">
              <a:rPr lang="en-US" altLang="en-US" smtClean="0"/>
              <a:pPr>
                <a:defRPr/>
              </a:pPr>
              <a:t>9</a:t>
            </a:fld>
            <a:endParaRPr lang="en-US" altLang="en-US"/>
          </a:p>
        </p:txBody>
      </p:sp>
    </p:spTree>
    <p:extLst>
      <p:ext uri="{BB962C8B-B14F-4D97-AF65-F5344CB8AC3E}">
        <p14:creationId xmlns:p14="http://schemas.microsoft.com/office/powerpoint/2010/main" val="36526932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0C1FC6-53CB-FC4A-94F4-5A89FD7B7D7A}"/>
              </a:ext>
            </a:extLst>
          </p:cNvPr>
          <p:cNvSpPr/>
          <p:nvPr userDrawn="1"/>
        </p:nvSpPr>
        <p:spPr>
          <a:xfrm>
            <a:off x="8243888" y="1131888"/>
            <a:ext cx="900112" cy="113188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6" name="Picture 2" descr="2014_logo_only_reverse.png">
            <a:extLst>
              <a:ext uri="{FF2B5EF4-FFF2-40B4-BE49-F238E27FC236}">
                <a16:creationId xmlns:a16="http://schemas.microsoft.com/office/drawing/2014/main" id="{19F92B7E-0E63-4141-B41D-CAED57B6B4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Placeholder 14"/>
          <p:cNvSpPr>
            <a:spLocks noGrp="1"/>
          </p:cNvSpPr>
          <p:nvPr>
            <p:ph type="body" sz="quarter" idx="12"/>
          </p:nvPr>
        </p:nvSpPr>
        <p:spPr>
          <a:xfrm>
            <a:off x="365760" y="3003798"/>
            <a:ext cx="6726519" cy="321394"/>
          </a:xfrm>
          <a:prstGeom prst="rect">
            <a:avLst/>
          </a:prstGeom>
        </p:spPr>
        <p:txBody>
          <a:bodyPr vert="horz" lIns="0" tIns="0" rIns="0" bIns="0"/>
          <a:lstStyle>
            <a:lvl1pPr marL="0" indent="0">
              <a:buNone/>
              <a:defRPr sz="1700" b="0" i="0" kern="0" spc="30" baseline="0">
                <a:solidFill>
                  <a:schemeClr val="tx1"/>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18" name="Text Placeholder 14"/>
          <p:cNvSpPr>
            <a:spLocks noGrp="1"/>
          </p:cNvSpPr>
          <p:nvPr>
            <p:ph type="body" sz="quarter" idx="13"/>
          </p:nvPr>
        </p:nvSpPr>
        <p:spPr>
          <a:xfrm>
            <a:off x="365760" y="3507854"/>
            <a:ext cx="6726519" cy="321394"/>
          </a:xfrm>
          <a:prstGeom prst="rect">
            <a:avLst/>
          </a:prstGeom>
        </p:spPr>
        <p:txBody>
          <a:bodyPr vert="horz" lIns="0" tIns="0" rIns="0" bIns="0"/>
          <a:lstStyle>
            <a:lvl1pPr marL="0" indent="0">
              <a:buNone/>
              <a:defRPr sz="900" b="0" i="0" kern="0" cap="none" spc="0" normalizeH="0" baseline="0">
                <a:solidFill>
                  <a:srgbClr val="0C2344"/>
                </a:solidFill>
                <a:latin typeface="Arial Black"/>
                <a:cs typeface="Arial Black"/>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2" name="Title 1">
            <a:extLst>
              <a:ext uri="{FF2B5EF4-FFF2-40B4-BE49-F238E27FC236}">
                <a16:creationId xmlns:a16="http://schemas.microsoft.com/office/drawing/2014/main" id="{39CD9859-2D2D-3543-A2A4-1A29FC8A509B}"/>
              </a:ext>
            </a:extLst>
          </p:cNvPr>
          <p:cNvSpPr>
            <a:spLocks noGrp="1"/>
          </p:cNvSpPr>
          <p:nvPr>
            <p:ph type="title"/>
          </p:nvPr>
        </p:nvSpPr>
        <p:spPr>
          <a:xfrm>
            <a:off x="365585" y="1131888"/>
            <a:ext cx="6726693" cy="1871910"/>
          </a:xfrm>
          <a:prstGeom prst="rect">
            <a:avLst/>
          </a:prstGeom>
        </p:spPr>
        <p:txBody>
          <a:bodyPr lIns="0" tIns="0" rIns="0" bIns="0"/>
          <a:lstStyle>
            <a:lvl1pPr algn="l">
              <a:defRPr lang="en-US" sz="3500" b="1" i="0" kern="0" cap="none" spc="0" baseline="0" dirty="0">
                <a:solidFill>
                  <a:srgbClr val="0077C9"/>
                </a:solidFill>
                <a:latin typeface="Arial"/>
                <a:ea typeface="MS PGothic" panose="020B0600070205080204" pitchFamily="34" charset="-128"/>
                <a:cs typeface="Arial"/>
              </a:defRPr>
            </a:lvl1pPr>
          </a:lstStyle>
          <a:p>
            <a:pPr marL="0" lvl="0" indent="0" algn="l" defTabSz="457200" rtl="0" eaLnBrk="0" fontAlgn="base" hangingPunct="0">
              <a:lnSpc>
                <a:spcPts val="3800"/>
              </a:lnSpc>
              <a:spcBef>
                <a:spcPts val="0"/>
              </a:spcBef>
              <a:spcAft>
                <a:spcPct val="0"/>
              </a:spcAft>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1300536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971F0E-DFD2-B148-882D-356E30B6ECF5}"/>
              </a:ext>
            </a:extLst>
          </p:cNvPr>
          <p:cNvSpPr/>
          <p:nvPr userDrawn="1"/>
        </p:nvSpPr>
        <p:spPr>
          <a:xfrm>
            <a:off x="8243888" y="1131888"/>
            <a:ext cx="900112" cy="11318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6" name="Picture 3" descr="s4b282c2015.png">
            <a:extLst>
              <a:ext uri="{FF2B5EF4-FFF2-40B4-BE49-F238E27FC236}">
                <a16:creationId xmlns:a16="http://schemas.microsoft.com/office/drawing/2014/main" id="{285A3538-1017-AF4B-8022-A6CBB01E396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13763"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14"/>
          <p:cNvSpPr>
            <a:spLocks noGrp="1"/>
          </p:cNvSpPr>
          <p:nvPr>
            <p:ph type="body" sz="quarter" idx="12"/>
          </p:nvPr>
        </p:nvSpPr>
        <p:spPr>
          <a:xfrm>
            <a:off x="365760" y="3003798"/>
            <a:ext cx="6726519" cy="321394"/>
          </a:xfrm>
          <a:prstGeom prst="rect">
            <a:avLst/>
          </a:prstGeom>
        </p:spPr>
        <p:txBody>
          <a:bodyPr vert="horz" lIns="0" tIns="0" rIns="0" bIns="0"/>
          <a:lstStyle>
            <a:lvl1pPr marL="0" indent="0">
              <a:buNone/>
              <a:defRPr sz="1700" b="0" i="0" kern="0" spc="30" baseline="0">
                <a:solidFill>
                  <a:srgbClr val="FFFFFF"/>
                </a:solidFill>
                <a:latin typeface="Arial"/>
                <a:cs typeface="Arial"/>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11" name="Text Placeholder 14"/>
          <p:cNvSpPr>
            <a:spLocks noGrp="1"/>
          </p:cNvSpPr>
          <p:nvPr>
            <p:ph type="body" sz="quarter" idx="13"/>
          </p:nvPr>
        </p:nvSpPr>
        <p:spPr>
          <a:xfrm>
            <a:off x="365760" y="3507854"/>
            <a:ext cx="6726519" cy="321394"/>
          </a:xfrm>
          <a:prstGeom prst="rect">
            <a:avLst/>
          </a:prstGeom>
        </p:spPr>
        <p:txBody>
          <a:bodyPr vert="horz" lIns="0" tIns="0" rIns="0" bIns="0"/>
          <a:lstStyle>
            <a:lvl1pPr marL="0" indent="0">
              <a:buNone/>
              <a:defRPr sz="900" b="0" i="0" kern="0" cap="none" spc="0" normalizeH="0" baseline="0">
                <a:solidFill>
                  <a:srgbClr val="FFFFFF"/>
                </a:solidFill>
                <a:latin typeface="Arial Black"/>
                <a:cs typeface="Arial Black"/>
              </a:defRPr>
            </a:lvl1pPr>
            <a:lvl2pPr>
              <a:defRPr sz="900" b="0" i="0">
                <a:latin typeface="Whitney Book"/>
                <a:cs typeface="Whitney Book"/>
              </a:defRPr>
            </a:lvl2pPr>
            <a:lvl3pPr>
              <a:defRPr sz="900" b="0" i="0">
                <a:latin typeface="Whitney Book"/>
                <a:cs typeface="Whitney Book"/>
              </a:defRPr>
            </a:lvl3pPr>
            <a:lvl4pPr>
              <a:defRPr sz="900" b="0" i="0">
                <a:latin typeface="Whitney Book"/>
                <a:cs typeface="Whitney Book"/>
              </a:defRPr>
            </a:lvl4pPr>
            <a:lvl5pPr>
              <a:defRPr sz="900" b="0" i="0">
                <a:latin typeface="Whitney Book"/>
                <a:cs typeface="Whitney Book"/>
              </a:defRPr>
            </a:lvl5pPr>
          </a:lstStyle>
          <a:p>
            <a:pPr lvl="0"/>
            <a:r>
              <a:rPr lang="en-CA" dirty="0"/>
              <a:t>Click to edit Master text styles</a:t>
            </a:r>
          </a:p>
        </p:txBody>
      </p:sp>
      <p:sp>
        <p:nvSpPr>
          <p:cNvPr id="2" name="Title 1">
            <a:extLst>
              <a:ext uri="{FF2B5EF4-FFF2-40B4-BE49-F238E27FC236}">
                <a16:creationId xmlns:a16="http://schemas.microsoft.com/office/drawing/2014/main" id="{3D95EC6F-BF32-AB4F-AF61-673337C0DE18}"/>
              </a:ext>
            </a:extLst>
          </p:cNvPr>
          <p:cNvSpPr>
            <a:spLocks noGrp="1"/>
          </p:cNvSpPr>
          <p:nvPr>
            <p:ph type="title"/>
          </p:nvPr>
        </p:nvSpPr>
        <p:spPr>
          <a:xfrm>
            <a:off x="365585" y="1131888"/>
            <a:ext cx="6726693" cy="1871910"/>
          </a:xfrm>
          <a:prstGeom prst="rect">
            <a:avLst/>
          </a:prstGeom>
        </p:spPr>
        <p:txBody>
          <a:bodyPr lIns="0" tIns="0" rIns="0" bIns="0"/>
          <a:lstStyle>
            <a:lvl1pPr algn="l">
              <a:lnSpc>
                <a:spcPts val="3800"/>
              </a:lnSpc>
              <a:defRPr lang="en-US" sz="3500" b="1" i="0" kern="0" cap="none" spc="0" baseline="0" dirty="0" smtClean="0">
                <a:solidFill>
                  <a:schemeClr val="tx1">
                    <a:lumMod val="10000"/>
                    <a:lumOff val="90000"/>
                  </a:schemeClr>
                </a:solidFill>
                <a:latin typeface="Arial"/>
                <a:ea typeface="MS PGothic" panose="020B0600070205080204" pitchFamily="34" charset="-128"/>
                <a:cs typeface="Arial"/>
              </a:defRPr>
            </a:lvl1pPr>
          </a:lstStyle>
          <a:p>
            <a:r>
              <a:rPr lang="en-US" dirty="0"/>
              <a:t>Click to edit Master title style</a:t>
            </a:r>
          </a:p>
        </p:txBody>
      </p:sp>
    </p:spTree>
    <p:extLst>
      <p:ext uri="{BB962C8B-B14F-4D97-AF65-F5344CB8AC3E}">
        <p14:creationId xmlns:p14="http://schemas.microsoft.com/office/powerpoint/2010/main" val="217120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section Slide - 1">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637E27E3-E1AB-5045-8834-515886A35D8C}"/>
              </a:ext>
            </a:extLst>
          </p:cNvPr>
          <p:cNvSpPr txBox="1">
            <a:spLocks/>
          </p:cNvSpPr>
          <p:nvPr userDrawn="1"/>
        </p:nvSpPr>
        <p:spPr>
          <a:xfrm flipH="1">
            <a:off x="8588375" y="6429375"/>
            <a:ext cx="304800" cy="192088"/>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13B8AE7D-4B58-2446-890E-1D8EC4FEDA33}" type="slidenum">
              <a:rPr lang="en-US" altLang="en-US" sz="900" smtClean="0">
                <a:solidFill>
                  <a:srgbClr val="FFFFFF"/>
                </a:solidFill>
                <a:latin typeface="Whitney Book" pitchFamily="2" charset="0"/>
              </a:rPr>
              <a:pPr algn="r">
                <a:spcBef>
                  <a:spcPct val="20000"/>
                </a:spcBef>
                <a:buFont typeface="Arial" panose="020B0604020202020204" pitchFamily="34" charset="0"/>
                <a:buNone/>
                <a:defRPr/>
              </a:pPr>
              <a:t>‹#›</a:t>
            </a:fld>
            <a:endParaRPr lang="en-CA" altLang="en-US" sz="900">
              <a:solidFill>
                <a:srgbClr val="FFFFFF"/>
              </a:solidFill>
              <a:latin typeface="Whitney Book" pitchFamily="2" charset="0"/>
            </a:endParaRPr>
          </a:p>
        </p:txBody>
      </p:sp>
      <p:sp>
        <p:nvSpPr>
          <p:cNvPr id="4" name="Rectangle 3">
            <a:extLst>
              <a:ext uri="{FF2B5EF4-FFF2-40B4-BE49-F238E27FC236}">
                <a16:creationId xmlns:a16="http://schemas.microsoft.com/office/drawing/2014/main" id="{80844822-5001-BC45-A407-ACD75BAE3B04}"/>
              </a:ext>
            </a:extLst>
          </p:cNvPr>
          <p:cNvSpPr/>
          <p:nvPr userDrawn="1"/>
        </p:nvSpPr>
        <p:spPr>
          <a:xfrm>
            <a:off x="8243888" y="1131888"/>
            <a:ext cx="900112" cy="113188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5" name="Picture 2" descr="2014_logo_only_reverse.png">
            <a:extLst>
              <a:ext uri="{FF2B5EF4-FFF2-40B4-BE49-F238E27FC236}">
                <a16:creationId xmlns:a16="http://schemas.microsoft.com/office/drawing/2014/main" id="{BFDB03DB-E520-4D48-A4FD-977A1B2679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C044663-0522-BA41-9C47-9864CEDBE5D4}"/>
              </a:ext>
            </a:extLst>
          </p:cNvPr>
          <p:cNvSpPr>
            <a:spLocks noGrp="1"/>
          </p:cNvSpPr>
          <p:nvPr>
            <p:ph type="title"/>
          </p:nvPr>
        </p:nvSpPr>
        <p:spPr>
          <a:xfrm>
            <a:off x="365586" y="1131888"/>
            <a:ext cx="7868777" cy="1325563"/>
          </a:xfrm>
          <a:prstGeom prst="rect">
            <a:avLst/>
          </a:prstGeom>
        </p:spPr>
        <p:txBody>
          <a:bodyPr lIns="0" tIns="0" rIns="0" bIns="0"/>
          <a:lstStyle>
            <a:lvl1pPr algn="l">
              <a:defRPr sz="2800" b="1" baseline="0">
                <a:solidFill>
                  <a:srgbClr val="0077C8"/>
                </a:solidFill>
              </a:defRPr>
            </a:lvl1pPr>
          </a:lstStyle>
          <a:p>
            <a:r>
              <a:rPr lang="en-US" dirty="0"/>
              <a:t>Click to edit Master title style</a:t>
            </a:r>
          </a:p>
        </p:txBody>
      </p:sp>
    </p:spTree>
    <p:extLst>
      <p:ext uri="{BB962C8B-B14F-4D97-AF65-F5344CB8AC3E}">
        <p14:creationId xmlns:p14="http://schemas.microsoft.com/office/powerpoint/2010/main" val="1644392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Slide - 2">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7B073D-3112-5A4B-B141-AAADE663CC6F}"/>
              </a:ext>
            </a:extLst>
          </p:cNvPr>
          <p:cNvSpPr/>
          <p:nvPr userDrawn="1"/>
        </p:nvSpPr>
        <p:spPr>
          <a:xfrm>
            <a:off x="8243888" y="1131888"/>
            <a:ext cx="900112" cy="11318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4" name="Picture 2" descr="s4b282c2015.png">
            <a:extLst>
              <a:ext uri="{FF2B5EF4-FFF2-40B4-BE49-F238E27FC236}">
                <a16:creationId xmlns:a16="http://schemas.microsoft.com/office/drawing/2014/main" id="{1D9DB832-891A-F94F-9C53-00942BF9169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13763"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432CF6D3-D582-BA45-9118-69269E879F9E}"/>
              </a:ext>
            </a:extLst>
          </p:cNvPr>
          <p:cNvSpPr>
            <a:spLocks noGrp="1"/>
          </p:cNvSpPr>
          <p:nvPr>
            <p:ph type="title"/>
          </p:nvPr>
        </p:nvSpPr>
        <p:spPr>
          <a:xfrm>
            <a:off x="357188" y="1131888"/>
            <a:ext cx="7886700" cy="1325563"/>
          </a:xfrm>
          <a:prstGeom prst="rect">
            <a:avLst/>
          </a:prstGeom>
        </p:spPr>
        <p:txBody>
          <a:bodyPr lIns="0" tIns="0" rIns="0" bIns="0"/>
          <a:lstStyle>
            <a:lvl1pPr algn="l">
              <a:defRPr sz="28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3417307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py Slide - 1">
    <p:spTree>
      <p:nvGrpSpPr>
        <p:cNvPr id="1" name=""/>
        <p:cNvGrpSpPr/>
        <p:nvPr/>
      </p:nvGrpSpPr>
      <p:grpSpPr>
        <a:xfrm>
          <a:off x="0" y="0"/>
          <a:ext cx="0" cy="0"/>
          <a:chOff x="0" y="0"/>
          <a:chExt cx="0" cy="0"/>
        </a:xfrm>
      </p:grpSpPr>
      <p:pic>
        <p:nvPicPr>
          <p:cNvPr id="4" name="Picture 9" descr="s4b282c2015.png">
            <a:extLst>
              <a:ext uri="{FF2B5EF4-FFF2-40B4-BE49-F238E27FC236}">
                <a16:creationId xmlns:a16="http://schemas.microsoft.com/office/drawing/2014/main" id="{385FD789-2B63-9745-89E7-E8D7A6D41F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29638" y="143986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14">
            <a:extLst>
              <a:ext uri="{FF2B5EF4-FFF2-40B4-BE49-F238E27FC236}">
                <a16:creationId xmlns:a16="http://schemas.microsoft.com/office/drawing/2014/main" id="{53B3D7AE-26BC-334A-ABC8-3115CE3F5998}"/>
              </a:ext>
            </a:extLst>
          </p:cNvPr>
          <p:cNvSpPr txBox="1">
            <a:spLocks/>
          </p:cNvSpPr>
          <p:nvPr userDrawn="1"/>
        </p:nvSpPr>
        <p:spPr>
          <a:xfrm flipH="1">
            <a:off x="8588375" y="6429375"/>
            <a:ext cx="304800" cy="192088"/>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2A98BF61-CE97-BE40-A838-D34DFDB14400}" type="slidenum">
              <a:rPr lang="en-US" altLang="en-US" sz="900" smtClean="0">
                <a:cs typeface="Arial" panose="020B0604020202020204" pitchFamily="34" charset="0"/>
              </a:rPr>
              <a:pPr algn="r">
                <a:spcBef>
                  <a:spcPct val="20000"/>
                </a:spcBef>
                <a:buFont typeface="Arial" panose="020B0604020202020204" pitchFamily="34" charset="0"/>
                <a:buNone/>
                <a:defRPr/>
              </a:pPr>
              <a:t>‹#›</a:t>
            </a:fld>
            <a:endParaRPr lang="en-CA" altLang="en-US" sz="900">
              <a:cs typeface="Arial" panose="020B0604020202020204" pitchFamily="34" charset="0"/>
            </a:endParaRPr>
          </a:p>
        </p:txBody>
      </p:sp>
      <p:sp>
        <p:nvSpPr>
          <p:cNvPr id="7" name="Text Placeholder 2"/>
          <p:cNvSpPr>
            <a:spLocks noGrp="1"/>
          </p:cNvSpPr>
          <p:nvPr>
            <p:ph type="body" sz="quarter" idx="13"/>
          </p:nvPr>
        </p:nvSpPr>
        <p:spPr>
          <a:xfrm>
            <a:off x="438954" y="1131888"/>
            <a:ext cx="7661438" cy="5393456"/>
          </a:xfrm>
          <a:prstGeom prst="rect">
            <a:avLst/>
          </a:prstGeom>
        </p:spPr>
        <p:txBody>
          <a:bodyPr vert="horz" lIns="0" tIns="0" rIns="0" bIns="0"/>
          <a:lstStyle>
            <a:lvl1pPr marL="0" indent="0">
              <a:lnSpc>
                <a:spcPct val="130000"/>
              </a:lnSpc>
              <a:spcBef>
                <a:spcPts val="0"/>
              </a:spcBef>
              <a:buFontTx/>
              <a:buNone/>
              <a:defRPr sz="1500"/>
            </a:lvl1pPr>
            <a:lvl2pPr marL="0" indent="-180000">
              <a:lnSpc>
                <a:spcPct val="130000"/>
              </a:lnSpc>
              <a:spcBef>
                <a:spcPts val="0"/>
              </a:spcBef>
              <a:buFont typeface="Arial"/>
              <a:buChar char="•"/>
              <a:defRPr sz="1500"/>
            </a:lvl2pPr>
            <a:lvl3pPr marL="540000" indent="-180000">
              <a:lnSpc>
                <a:spcPct val="130000"/>
              </a:lnSpc>
              <a:spcBef>
                <a:spcPts val="0"/>
              </a:spcBef>
              <a:defRPr sz="1500"/>
            </a:lvl3pPr>
            <a:lvl4pPr marL="900000" indent="-180000">
              <a:lnSpc>
                <a:spcPct val="130000"/>
              </a:lnSpc>
              <a:spcBef>
                <a:spcPts val="0"/>
              </a:spcBef>
              <a:buFont typeface="Arial"/>
              <a:buChar char="•"/>
              <a:defRPr sz="1500"/>
            </a:lvl4pPr>
            <a:lvl5pPr marL="1260000" indent="-180000">
              <a:lnSpc>
                <a:spcPct val="130000"/>
              </a:lnSpc>
              <a:spcBef>
                <a:spcPts val="0"/>
              </a:spcBef>
              <a:buFont typeface="Arial"/>
              <a:buChar char="•"/>
              <a:defRPr sz="1500"/>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9782BA72-7EA4-AC44-B3B4-0FA3CB071319}"/>
              </a:ext>
            </a:extLst>
          </p:cNvPr>
          <p:cNvSpPr>
            <a:spLocks noGrp="1"/>
          </p:cNvSpPr>
          <p:nvPr>
            <p:ph type="title"/>
          </p:nvPr>
        </p:nvSpPr>
        <p:spPr>
          <a:xfrm>
            <a:off x="438954" y="315869"/>
            <a:ext cx="7661438" cy="623330"/>
          </a:xfrm>
          <a:prstGeom prst="rect">
            <a:avLst/>
          </a:prstGeom>
        </p:spPr>
        <p:txBody>
          <a:bodyPr lIns="0" tIns="0" rIns="0" bIns="0"/>
          <a:lstStyle>
            <a:lvl1pPr algn="l">
              <a:lnSpc>
                <a:spcPts val="3800"/>
              </a:lnSpc>
              <a:defRPr sz="2100" b="1" baseline="0">
                <a:solidFill>
                  <a:srgbClr val="0077C8"/>
                </a:solidFill>
              </a:defRPr>
            </a:lvl1pPr>
          </a:lstStyle>
          <a:p>
            <a:r>
              <a:rPr lang="en-US" dirty="0"/>
              <a:t>Click to edit Master title style</a:t>
            </a:r>
          </a:p>
        </p:txBody>
      </p:sp>
    </p:spTree>
    <p:extLst>
      <p:ext uri="{BB962C8B-B14F-4D97-AF65-F5344CB8AC3E}">
        <p14:creationId xmlns:p14="http://schemas.microsoft.com/office/powerpoint/2010/main" val="3506327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py Slide - 2">
    <p:bg>
      <p:bgPr>
        <a:solidFill>
          <a:schemeClr val="tx1"/>
        </a:solidFill>
        <a:effectLst/>
      </p:bgPr>
    </p:bg>
    <p:spTree>
      <p:nvGrpSpPr>
        <p:cNvPr id="1" name=""/>
        <p:cNvGrpSpPr/>
        <p:nvPr/>
      </p:nvGrpSpPr>
      <p:grpSpPr>
        <a:xfrm>
          <a:off x="0" y="0"/>
          <a:ext cx="0" cy="0"/>
          <a:chOff x="0" y="0"/>
          <a:chExt cx="0" cy="0"/>
        </a:xfrm>
      </p:grpSpPr>
      <p:pic>
        <p:nvPicPr>
          <p:cNvPr id="4" name="Picture 2" descr="2014_logo_only_reverse.png">
            <a:extLst>
              <a:ext uri="{FF2B5EF4-FFF2-40B4-BE49-F238E27FC236}">
                <a16:creationId xmlns:a16="http://schemas.microsoft.com/office/drawing/2014/main" id="{1609F14A-6241-ED4D-ABA4-868F8C8E738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141922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14">
            <a:extLst>
              <a:ext uri="{FF2B5EF4-FFF2-40B4-BE49-F238E27FC236}">
                <a16:creationId xmlns:a16="http://schemas.microsoft.com/office/drawing/2014/main" id="{4A1E536C-64ED-6B42-A2DC-D56045BC56FB}"/>
              </a:ext>
            </a:extLst>
          </p:cNvPr>
          <p:cNvSpPr txBox="1">
            <a:spLocks/>
          </p:cNvSpPr>
          <p:nvPr userDrawn="1"/>
        </p:nvSpPr>
        <p:spPr>
          <a:xfrm flipH="1">
            <a:off x="8588375" y="6429375"/>
            <a:ext cx="304800" cy="192088"/>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55C3B5CB-6776-7944-B70D-C01CB403576C}" type="slidenum">
              <a:rPr lang="en-US" altLang="en-US" sz="900" smtClean="0">
                <a:solidFill>
                  <a:srgbClr val="FFFFFF"/>
                </a:solidFill>
                <a:cs typeface="Arial" panose="020B0604020202020204" pitchFamily="34" charset="0"/>
              </a:rPr>
              <a:pPr algn="r">
                <a:spcBef>
                  <a:spcPct val="20000"/>
                </a:spcBef>
                <a:buFont typeface="Arial" panose="020B0604020202020204" pitchFamily="34" charset="0"/>
                <a:buNone/>
                <a:defRPr/>
              </a:pPr>
              <a:t>‹#›</a:t>
            </a:fld>
            <a:endParaRPr lang="en-CA" altLang="en-US" sz="900">
              <a:solidFill>
                <a:srgbClr val="FFFFFF"/>
              </a:solidFill>
              <a:cs typeface="Arial" panose="020B0604020202020204" pitchFamily="34" charset="0"/>
            </a:endParaRPr>
          </a:p>
        </p:txBody>
      </p:sp>
      <p:sp>
        <p:nvSpPr>
          <p:cNvPr id="7" name="Text Placeholder 2"/>
          <p:cNvSpPr>
            <a:spLocks noGrp="1"/>
          </p:cNvSpPr>
          <p:nvPr>
            <p:ph type="body" sz="quarter" idx="13"/>
          </p:nvPr>
        </p:nvSpPr>
        <p:spPr>
          <a:xfrm>
            <a:off x="438954" y="1131888"/>
            <a:ext cx="7661438" cy="5393456"/>
          </a:xfrm>
          <a:prstGeom prst="rect">
            <a:avLst/>
          </a:prstGeom>
        </p:spPr>
        <p:txBody>
          <a:bodyPr vert="horz" lIns="0" tIns="0" rIns="0" bIns="0"/>
          <a:lstStyle>
            <a:lvl1pPr marL="0" indent="0">
              <a:lnSpc>
                <a:spcPct val="130000"/>
              </a:lnSpc>
              <a:spcBef>
                <a:spcPts val="0"/>
              </a:spcBef>
              <a:buFontTx/>
              <a:buNone/>
              <a:defRPr sz="1500">
                <a:solidFill>
                  <a:srgbClr val="FFFFFF"/>
                </a:solidFill>
              </a:defRPr>
            </a:lvl1pPr>
            <a:lvl2pPr marL="0" indent="-180000">
              <a:lnSpc>
                <a:spcPct val="130000"/>
              </a:lnSpc>
              <a:spcBef>
                <a:spcPts val="0"/>
              </a:spcBef>
              <a:buFont typeface="Arial"/>
              <a:buChar char="•"/>
              <a:defRPr sz="1500">
                <a:solidFill>
                  <a:srgbClr val="FFFFFF"/>
                </a:solidFill>
              </a:defRPr>
            </a:lvl2pPr>
            <a:lvl3pPr marL="540000" indent="-180000">
              <a:lnSpc>
                <a:spcPct val="130000"/>
              </a:lnSpc>
              <a:spcBef>
                <a:spcPts val="0"/>
              </a:spcBef>
              <a:defRPr sz="1500">
                <a:solidFill>
                  <a:srgbClr val="FFFFFF"/>
                </a:solidFill>
              </a:defRPr>
            </a:lvl3pPr>
            <a:lvl4pPr marL="900000" indent="-180000">
              <a:lnSpc>
                <a:spcPct val="130000"/>
              </a:lnSpc>
              <a:spcBef>
                <a:spcPts val="0"/>
              </a:spcBef>
              <a:buFont typeface="Arial"/>
              <a:buChar char="•"/>
              <a:defRPr sz="1500">
                <a:solidFill>
                  <a:srgbClr val="FFFFFF"/>
                </a:solidFill>
              </a:defRPr>
            </a:lvl4pPr>
            <a:lvl5pPr marL="1260000" indent="-180000">
              <a:lnSpc>
                <a:spcPct val="130000"/>
              </a:lnSpc>
              <a:spcBef>
                <a:spcPts val="0"/>
              </a:spcBef>
              <a:buFont typeface="Arial"/>
              <a:buChar char="•"/>
              <a:defRPr sz="1500">
                <a:solidFill>
                  <a:srgbClr val="FFFFFF"/>
                </a:solidFil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2D203036-C98B-534C-8613-605359D69B67}"/>
              </a:ext>
            </a:extLst>
          </p:cNvPr>
          <p:cNvSpPr>
            <a:spLocks noGrp="1"/>
          </p:cNvSpPr>
          <p:nvPr>
            <p:ph type="title"/>
          </p:nvPr>
        </p:nvSpPr>
        <p:spPr>
          <a:xfrm>
            <a:off x="438954" y="315868"/>
            <a:ext cx="7661438" cy="623331"/>
          </a:xfrm>
          <a:prstGeom prst="rect">
            <a:avLst/>
          </a:prstGeom>
        </p:spPr>
        <p:txBody>
          <a:bodyPr lIns="0" tIns="0" rIns="0" bIns="0"/>
          <a:lstStyle>
            <a:lvl1pPr algn="l">
              <a:lnSpc>
                <a:spcPts val="3800"/>
              </a:lnSpc>
              <a:defRPr sz="2100" b="1">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4282726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phics Slide - 1">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4EE5BC36-338B-7345-BB92-A01489692A0E}"/>
              </a:ext>
            </a:extLst>
          </p:cNvPr>
          <p:cNvSpPr txBox="1">
            <a:spLocks/>
          </p:cNvSpPr>
          <p:nvPr userDrawn="1"/>
        </p:nvSpPr>
        <p:spPr>
          <a:xfrm flipH="1">
            <a:off x="8588375" y="6429375"/>
            <a:ext cx="304800" cy="192088"/>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1E2848D5-A9A4-A542-A06D-837FFB5BE69E}" type="slidenum">
              <a:rPr lang="en-US" altLang="en-US" sz="900" smtClean="0">
                <a:cs typeface="Arial" panose="020B0604020202020204" pitchFamily="34" charset="0"/>
              </a:rPr>
              <a:pPr algn="r">
                <a:spcBef>
                  <a:spcPct val="20000"/>
                </a:spcBef>
                <a:buFont typeface="Arial" panose="020B0604020202020204" pitchFamily="34" charset="0"/>
                <a:buNone/>
                <a:defRPr/>
              </a:pPr>
              <a:t>‹#›</a:t>
            </a:fld>
            <a:endParaRPr lang="en-CA" altLang="en-US" sz="900">
              <a:cs typeface="Arial" panose="020B0604020202020204" pitchFamily="34" charset="0"/>
            </a:endParaRPr>
          </a:p>
        </p:txBody>
      </p:sp>
      <p:pic>
        <p:nvPicPr>
          <p:cNvPr id="5" name="Picture 9" descr="s4b282c2015.png">
            <a:extLst>
              <a:ext uri="{FF2B5EF4-FFF2-40B4-BE49-F238E27FC236}">
                <a16:creationId xmlns:a16="http://schemas.microsoft.com/office/drawing/2014/main" id="{51E6C52D-0CD4-8D4D-8926-7847A59B4C8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29638" y="404813"/>
            <a:ext cx="36353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2"/>
          <p:cNvSpPr>
            <a:spLocks noGrp="1"/>
          </p:cNvSpPr>
          <p:nvPr>
            <p:ph type="body" sz="quarter" idx="13"/>
          </p:nvPr>
        </p:nvSpPr>
        <p:spPr>
          <a:xfrm>
            <a:off x="438954" y="1131888"/>
            <a:ext cx="7661438" cy="5393456"/>
          </a:xfrm>
          <a:prstGeom prst="rect">
            <a:avLst/>
          </a:prstGeom>
        </p:spPr>
        <p:txBody>
          <a:bodyPr vert="horz" lIns="0" tIns="0" rIns="0" bIns="0"/>
          <a:lstStyle>
            <a:lvl1pPr marL="0" indent="0">
              <a:lnSpc>
                <a:spcPct val="130000"/>
              </a:lnSpc>
              <a:spcBef>
                <a:spcPts val="0"/>
              </a:spcBef>
              <a:buFontTx/>
              <a:buNone/>
              <a:defRPr sz="1500"/>
            </a:lvl1pPr>
            <a:lvl2pPr marL="0" indent="-180000">
              <a:lnSpc>
                <a:spcPct val="130000"/>
              </a:lnSpc>
              <a:spcBef>
                <a:spcPts val="0"/>
              </a:spcBef>
              <a:buFont typeface="Arial"/>
              <a:buChar char="•"/>
              <a:defRPr sz="1500"/>
            </a:lvl2pPr>
            <a:lvl3pPr marL="540000" indent="-180000">
              <a:lnSpc>
                <a:spcPct val="130000"/>
              </a:lnSpc>
              <a:spcBef>
                <a:spcPts val="0"/>
              </a:spcBef>
              <a:defRPr sz="1500"/>
            </a:lvl3pPr>
            <a:lvl4pPr marL="900000" indent="-180000">
              <a:lnSpc>
                <a:spcPct val="130000"/>
              </a:lnSpc>
              <a:spcBef>
                <a:spcPts val="0"/>
              </a:spcBef>
              <a:buFont typeface="Arial"/>
              <a:buChar char="•"/>
              <a:defRPr sz="1500"/>
            </a:lvl4pPr>
            <a:lvl5pPr marL="1260000" indent="-180000">
              <a:lnSpc>
                <a:spcPct val="130000"/>
              </a:lnSpc>
              <a:spcBef>
                <a:spcPts val="0"/>
              </a:spcBef>
              <a:buFont typeface="Arial"/>
              <a:buChar char="•"/>
              <a:defRPr sz="1500"/>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CEA9ED51-AF37-F64C-B4F4-8FB1B918DB99}"/>
              </a:ext>
            </a:extLst>
          </p:cNvPr>
          <p:cNvSpPr>
            <a:spLocks noGrp="1"/>
          </p:cNvSpPr>
          <p:nvPr>
            <p:ph type="title"/>
          </p:nvPr>
        </p:nvSpPr>
        <p:spPr>
          <a:xfrm>
            <a:off x="432508" y="315867"/>
            <a:ext cx="7667884" cy="623331"/>
          </a:xfrm>
          <a:prstGeom prst="rect">
            <a:avLst/>
          </a:prstGeom>
        </p:spPr>
        <p:txBody>
          <a:bodyPr lIns="0" tIns="0" rIns="0" bIns="0" anchor="ctr" anchorCtr="0"/>
          <a:lstStyle>
            <a:lvl1pPr algn="l">
              <a:lnSpc>
                <a:spcPct val="100000"/>
              </a:lnSpc>
              <a:defRPr kumimoji="0" lang="en-US" sz="2100" b="1" i="0" u="none" strike="noStrike" kern="1200" cap="none" spc="0" normalizeH="0" baseline="0" noProof="0" dirty="0" smtClean="0">
                <a:ln>
                  <a:noFill/>
                </a:ln>
                <a:solidFill>
                  <a:srgbClr val="0077C8"/>
                </a:solidFill>
                <a:effectLst/>
                <a:uLnTx/>
                <a:uFillTx/>
                <a:latin typeface="Arial"/>
                <a:ea typeface="MS PGothic" panose="020B0600070205080204" pitchFamily="34" charset="-128"/>
                <a:cs typeface="Arial"/>
              </a:defRPr>
            </a:lvl1pPr>
          </a:lstStyle>
          <a:p>
            <a:r>
              <a:rPr lang="en-US" dirty="0"/>
              <a:t>Click to edit Master title style</a:t>
            </a:r>
          </a:p>
        </p:txBody>
      </p:sp>
    </p:spTree>
    <p:extLst>
      <p:ext uri="{BB962C8B-B14F-4D97-AF65-F5344CB8AC3E}">
        <p14:creationId xmlns:p14="http://schemas.microsoft.com/office/powerpoint/2010/main" val="147288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1D7BBF80-372F-1A41-8D39-B2D27E04AE0A}"/>
              </a:ext>
            </a:extLst>
          </p:cNvPr>
          <p:cNvSpPr txBox="1">
            <a:spLocks/>
          </p:cNvSpPr>
          <p:nvPr userDrawn="1"/>
        </p:nvSpPr>
        <p:spPr>
          <a:xfrm flipH="1">
            <a:off x="8588375" y="6429375"/>
            <a:ext cx="304800" cy="192088"/>
          </a:xfrm>
          <a:prstGeom prst="rect">
            <a:avLst/>
          </a:prstGeom>
        </p:spPr>
        <p:txBody>
          <a:bodyPr lIns="0" tIns="0" rIns="0" bIns="0"/>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20000"/>
              </a:spcBef>
              <a:buFont typeface="Arial" panose="020B0604020202020204" pitchFamily="34" charset="0"/>
              <a:buNone/>
              <a:defRPr/>
            </a:pPr>
            <a:fld id="{DFC40D22-CD23-934C-9F8A-316B082F01D3}" type="slidenum">
              <a:rPr lang="en-US" altLang="en-US" sz="900" smtClean="0">
                <a:solidFill>
                  <a:srgbClr val="FFFFFF"/>
                </a:solidFill>
                <a:cs typeface="Arial" panose="020B0604020202020204" pitchFamily="34" charset="0"/>
              </a:rPr>
              <a:pPr algn="r">
                <a:spcBef>
                  <a:spcPct val="20000"/>
                </a:spcBef>
                <a:buFont typeface="Arial" panose="020B0604020202020204" pitchFamily="34" charset="0"/>
                <a:buNone/>
                <a:defRPr/>
              </a:pPr>
              <a:t>‹#›</a:t>
            </a:fld>
            <a:endParaRPr lang="en-CA" altLang="en-US" sz="900">
              <a:solidFill>
                <a:srgbClr val="FFFFFF"/>
              </a:solidFill>
              <a:cs typeface="Arial" panose="020B0604020202020204" pitchFamily="34" charset="0"/>
            </a:endParaRPr>
          </a:p>
        </p:txBody>
      </p:sp>
      <p:pic>
        <p:nvPicPr>
          <p:cNvPr id="5" name="Picture 2" descr="2014_logo_only_reverse.png">
            <a:extLst>
              <a:ext uri="{FF2B5EF4-FFF2-40B4-BE49-F238E27FC236}">
                <a16:creationId xmlns:a16="http://schemas.microsoft.com/office/drawing/2014/main" id="{5383735F-27E2-C14D-B1C1-1D324B3B58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85188" y="473075"/>
            <a:ext cx="4079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2"/>
          <p:cNvSpPr>
            <a:spLocks noGrp="1"/>
          </p:cNvSpPr>
          <p:nvPr>
            <p:ph type="body" sz="quarter" idx="13"/>
          </p:nvPr>
        </p:nvSpPr>
        <p:spPr>
          <a:xfrm>
            <a:off x="438954" y="1131888"/>
            <a:ext cx="7661438" cy="5393456"/>
          </a:xfrm>
          <a:prstGeom prst="rect">
            <a:avLst/>
          </a:prstGeom>
        </p:spPr>
        <p:txBody>
          <a:bodyPr vert="horz" lIns="0" tIns="0" rIns="0" bIns="0"/>
          <a:lstStyle>
            <a:lvl1pPr marL="0" indent="0">
              <a:lnSpc>
                <a:spcPct val="130000"/>
              </a:lnSpc>
              <a:spcBef>
                <a:spcPts val="0"/>
              </a:spcBef>
              <a:buFontTx/>
              <a:buNone/>
              <a:defRPr sz="1500">
                <a:solidFill>
                  <a:srgbClr val="FFFFFF"/>
                </a:solidFill>
              </a:defRPr>
            </a:lvl1pPr>
            <a:lvl2pPr marL="0" indent="-180000">
              <a:lnSpc>
                <a:spcPct val="130000"/>
              </a:lnSpc>
              <a:spcBef>
                <a:spcPts val="0"/>
              </a:spcBef>
              <a:buFont typeface="Arial"/>
              <a:buChar char="•"/>
              <a:defRPr sz="1500">
                <a:solidFill>
                  <a:srgbClr val="FFFFFF"/>
                </a:solidFill>
              </a:defRPr>
            </a:lvl2pPr>
            <a:lvl3pPr marL="540000" indent="-180000">
              <a:lnSpc>
                <a:spcPct val="130000"/>
              </a:lnSpc>
              <a:spcBef>
                <a:spcPts val="0"/>
              </a:spcBef>
              <a:defRPr sz="1500">
                <a:solidFill>
                  <a:srgbClr val="FFFFFF"/>
                </a:solidFill>
              </a:defRPr>
            </a:lvl3pPr>
            <a:lvl4pPr marL="900000" indent="-180000">
              <a:lnSpc>
                <a:spcPct val="130000"/>
              </a:lnSpc>
              <a:spcBef>
                <a:spcPts val="0"/>
              </a:spcBef>
              <a:buFont typeface="Arial"/>
              <a:buChar char="•"/>
              <a:defRPr sz="1500">
                <a:solidFill>
                  <a:srgbClr val="FFFFFF"/>
                </a:solidFill>
              </a:defRPr>
            </a:lvl4pPr>
            <a:lvl5pPr marL="1260000" indent="-180000">
              <a:lnSpc>
                <a:spcPct val="130000"/>
              </a:lnSpc>
              <a:spcBef>
                <a:spcPts val="0"/>
              </a:spcBef>
              <a:buFont typeface="Arial"/>
              <a:buChar char="•"/>
              <a:defRPr sz="1500">
                <a:solidFill>
                  <a:srgbClr val="FFFFFF"/>
                </a:solidFill>
              </a:defRPr>
            </a:lvl5p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2" name="Title 1">
            <a:extLst>
              <a:ext uri="{FF2B5EF4-FFF2-40B4-BE49-F238E27FC236}">
                <a16:creationId xmlns:a16="http://schemas.microsoft.com/office/drawing/2014/main" id="{8B700FBC-B725-A24E-8A4B-7E2808052750}"/>
              </a:ext>
            </a:extLst>
          </p:cNvPr>
          <p:cNvSpPr>
            <a:spLocks noGrp="1"/>
          </p:cNvSpPr>
          <p:nvPr>
            <p:ph type="title"/>
          </p:nvPr>
        </p:nvSpPr>
        <p:spPr>
          <a:xfrm>
            <a:off x="438954" y="315868"/>
            <a:ext cx="7661438" cy="623331"/>
          </a:xfrm>
          <a:prstGeom prst="rect">
            <a:avLst/>
          </a:prstGeom>
        </p:spPr>
        <p:txBody>
          <a:bodyPr lIns="0" tIns="0" rIns="0" bIns="0" anchor="ctr" anchorCtr="0"/>
          <a:lstStyle>
            <a:lvl1pPr algn="l">
              <a:defRPr kumimoji="0" lang="en-US" sz="2100" b="1" i="0" u="none" strike="noStrike" kern="1200" cap="none" spc="0" normalizeH="0" baseline="0" noProof="0" dirty="0">
                <a:ln>
                  <a:noFill/>
                </a:ln>
                <a:solidFill>
                  <a:schemeClr val="tx1">
                    <a:lumMod val="10000"/>
                    <a:lumOff val="90000"/>
                  </a:schemeClr>
                </a:solidFill>
                <a:effectLst/>
                <a:uLnTx/>
                <a:uFillTx/>
                <a:latin typeface="Arial"/>
                <a:ea typeface="MS PGothic" panose="020B0600070205080204" pitchFamily="34" charset="-128"/>
                <a:cs typeface="Arial"/>
              </a:defRPr>
            </a:lvl1pPr>
          </a:lstStyle>
          <a:p>
            <a:r>
              <a:rPr lang="en-US" dirty="0"/>
              <a:t>Click to edit Master title style</a:t>
            </a:r>
          </a:p>
        </p:txBody>
      </p:sp>
    </p:spTree>
    <p:extLst>
      <p:ext uri="{BB962C8B-B14F-4D97-AF65-F5344CB8AC3E}">
        <p14:creationId xmlns:p14="http://schemas.microsoft.com/office/powerpoint/2010/main" val="3965549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1" descr="UBC_2016_Signature_Wide_282.png">
            <a:extLst>
              <a:ext uri="{FF2B5EF4-FFF2-40B4-BE49-F238E27FC236}">
                <a16:creationId xmlns:a16="http://schemas.microsoft.com/office/drawing/2014/main" id="{0D1C12A9-FE1F-0F42-92D1-EDAFA149058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9738" y="1439863"/>
            <a:ext cx="4770437"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hidden="1">
            <a:extLst>
              <a:ext uri="{FF2B5EF4-FFF2-40B4-BE49-F238E27FC236}">
                <a16:creationId xmlns:a16="http://schemas.microsoft.com/office/drawing/2014/main" id="{B4ACECC4-3E98-E142-86DF-8352EB87D6CC}"/>
              </a:ext>
            </a:extLst>
          </p:cNvPr>
          <p:cNvSpPr>
            <a:spLocks noGrp="1"/>
          </p:cNvSpPr>
          <p:nvPr>
            <p:ph type="title"/>
          </p:nvPr>
        </p:nvSpPr>
        <p:spPr>
          <a:xfrm>
            <a:off x="439738" y="4725145"/>
            <a:ext cx="7886700" cy="864096"/>
          </a:xfrm>
          <a:prstGeom prst="rect">
            <a:avLst/>
          </a:prstGeom>
        </p:spPr>
        <p:txBody>
          <a:bodyPr/>
          <a:lstStyle>
            <a:lvl1pPr algn="l">
              <a:defRPr sz="21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10899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 2">
    <p:bg>
      <p:bgPr>
        <a:solidFill>
          <a:schemeClr val="tx1"/>
        </a:solidFill>
        <a:effectLst/>
      </p:bgPr>
    </p:bg>
    <p:spTree>
      <p:nvGrpSpPr>
        <p:cNvPr id="1" name=""/>
        <p:cNvGrpSpPr/>
        <p:nvPr/>
      </p:nvGrpSpPr>
      <p:grpSpPr>
        <a:xfrm>
          <a:off x="0" y="0"/>
          <a:ext cx="0" cy="0"/>
          <a:chOff x="0" y="0"/>
          <a:chExt cx="0" cy="0"/>
        </a:xfrm>
      </p:grpSpPr>
      <p:pic>
        <p:nvPicPr>
          <p:cNvPr id="2" name="Picture 1" descr="1_2016_UBCStandard_Signature_ReverseRGB72.png">
            <a:extLst>
              <a:ext uri="{FF2B5EF4-FFF2-40B4-BE49-F238E27FC236}">
                <a16:creationId xmlns:a16="http://schemas.microsoft.com/office/drawing/2014/main" id="{25AADF1C-9AFB-4A44-8604-841415CB292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9738" y="1443038"/>
            <a:ext cx="4770437"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hidden="1">
            <a:extLst>
              <a:ext uri="{FF2B5EF4-FFF2-40B4-BE49-F238E27FC236}">
                <a16:creationId xmlns:a16="http://schemas.microsoft.com/office/drawing/2014/main" id="{64A5F302-C8ED-DC4A-AC87-FE6B87034CE2}"/>
              </a:ext>
            </a:extLst>
          </p:cNvPr>
          <p:cNvSpPr>
            <a:spLocks noGrp="1"/>
          </p:cNvSpPr>
          <p:nvPr>
            <p:ph type="title"/>
          </p:nvPr>
        </p:nvSpPr>
        <p:spPr>
          <a:xfrm>
            <a:off x="439738" y="4725145"/>
            <a:ext cx="7886700" cy="864096"/>
          </a:xfrm>
          <a:prstGeom prst="rect">
            <a:avLst/>
          </a:prstGeom>
        </p:spPr>
        <p:txBody>
          <a:bodyPr/>
          <a:lstStyle>
            <a:lvl1pPr algn="l">
              <a:defRPr sz="2100">
                <a:solidFill>
                  <a:schemeClr val="tx1">
                    <a:lumMod val="10000"/>
                    <a:lumOff val="90000"/>
                  </a:schemeClr>
                </a:solidFill>
              </a:defRPr>
            </a:lvl1pPr>
          </a:lstStyle>
          <a:p>
            <a:r>
              <a:rPr lang="en-US" dirty="0"/>
              <a:t>Click to edit Master title style</a:t>
            </a:r>
          </a:p>
        </p:txBody>
      </p:sp>
    </p:spTree>
    <p:extLst>
      <p:ext uri="{BB962C8B-B14F-4D97-AF65-F5344CB8AC3E}">
        <p14:creationId xmlns:p14="http://schemas.microsoft.com/office/powerpoint/2010/main" val="3159393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962" r:id="rId1"/>
    <p:sldLayoutId id="2147484963" r:id="rId2"/>
    <p:sldLayoutId id="2147484964" r:id="rId3"/>
    <p:sldLayoutId id="2147484965" r:id="rId4"/>
    <p:sldLayoutId id="2147484966" r:id="rId5"/>
    <p:sldLayoutId id="2147484967" r:id="rId6"/>
    <p:sldLayoutId id="2147484968" r:id="rId7"/>
    <p:sldLayoutId id="2147484969" r:id="rId8"/>
    <p:sldLayoutId id="2147484970" r:id="rId9"/>
    <p:sldLayoutId id="2147484971" r:id="rId10"/>
  </p:sldLayoutIdLst>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ＭＳ Ｐゴシック"/>
        </a:defRPr>
      </a:lvl5pPr>
      <a:lvl6pPr marL="457200" algn="ctr" defTabSz="457200" rtl="0" fontAlgn="base">
        <a:spcBef>
          <a:spcPct val="0"/>
        </a:spcBef>
        <a:spcAft>
          <a:spcPct val="0"/>
        </a:spcAft>
        <a:defRPr sz="4400">
          <a:solidFill>
            <a:schemeClr val="tx1"/>
          </a:solidFill>
          <a:latin typeface="Arial" charset="0"/>
          <a:ea typeface="ＭＳ Ｐゴシック" charset="-128"/>
        </a:defRPr>
      </a:lvl6pPr>
      <a:lvl7pPr marL="914400" algn="ctr" defTabSz="457200" rtl="0" fontAlgn="base">
        <a:spcBef>
          <a:spcPct val="0"/>
        </a:spcBef>
        <a:spcAft>
          <a:spcPct val="0"/>
        </a:spcAft>
        <a:defRPr sz="4400">
          <a:solidFill>
            <a:schemeClr val="tx1"/>
          </a:solidFill>
          <a:latin typeface="Arial" charset="0"/>
          <a:ea typeface="ＭＳ Ｐゴシック" charset="-128"/>
        </a:defRPr>
      </a:lvl7pPr>
      <a:lvl8pPr marL="1371600" algn="ctr" defTabSz="457200" rtl="0" fontAlgn="base">
        <a:spcBef>
          <a:spcPct val="0"/>
        </a:spcBef>
        <a:spcAft>
          <a:spcPct val="0"/>
        </a:spcAft>
        <a:defRPr sz="4400">
          <a:solidFill>
            <a:schemeClr val="tx1"/>
          </a:solidFill>
          <a:latin typeface="Arial" charset="0"/>
          <a:ea typeface="ＭＳ Ｐゴシック" charset="-128"/>
        </a:defRPr>
      </a:lvl8pPr>
      <a:lvl9pPr marL="1828800" algn="ctr" defTabSz="457200" rtl="0" fontAlgn="base">
        <a:spcBef>
          <a:spcPct val="0"/>
        </a:spcBef>
        <a:spcAft>
          <a:spcPct val="0"/>
        </a:spcAft>
        <a:defRPr sz="4400">
          <a:solidFill>
            <a:schemeClr val="tx1"/>
          </a:solidFill>
          <a:latin typeface="Arial" charset="0"/>
          <a:ea typeface="ＭＳ Ｐゴシック"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ＭＳ Ｐゴシック"/>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ＭＳ Ｐゴシック"/>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ＭＳ Ｐゴシック"/>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ＭＳ Ｐゴシック"/>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4251C2-E751-6AB4-5EF5-66E27711C761}"/>
              </a:ext>
            </a:extLst>
          </p:cNvPr>
          <p:cNvSpPr>
            <a:spLocks noGrp="1"/>
          </p:cNvSpPr>
          <p:nvPr>
            <p:ph type="body" sz="quarter" idx="12"/>
          </p:nvPr>
        </p:nvSpPr>
        <p:spPr/>
        <p:txBody>
          <a:bodyPr/>
          <a:lstStyle/>
          <a:p>
            <a:r>
              <a:rPr lang="en-US" dirty="0"/>
              <a:t>Mech 588 – Advanced Topics in CFD</a:t>
            </a:r>
            <a:endParaRPr lang="en-CA" dirty="0"/>
          </a:p>
        </p:txBody>
      </p:sp>
      <p:sp>
        <p:nvSpPr>
          <p:cNvPr id="3" name="Text Placeholder 2">
            <a:extLst>
              <a:ext uri="{FF2B5EF4-FFF2-40B4-BE49-F238E27FC236}">
                <a16:creationId xmlns:a16="http://schemas.microsoft.com/office/drawing/2014/main" id="{37B37315-DEC9-5F8A-75C8-26A38123C553}"/>
              </a:ext>
            </a:extLst>
          </p:cNvPr>
          <p:cNvSpPr>
            <a:spLocks noGrp="1"/>
          </p:cNvSpPr>
          <p:nvPr>
            <p:ph type="body" sz="quarter" idx="13"/>
          </p:nvPr>
        </p:nvSpPr>
        <p:spPr/>
        <p:txBody>
          <a:bodyPr/>
          <a:lstStyle/>
          <a:p>
            <a:r>
              <a:rPr lang="en-US" dirty="0"/>
              <a:t>Christian Rowsell</a:t>
            </a:r>
          </a:p>
          <a:p>
            <a:r>
              <a:rPr lang="en-US" dirty="0"/>
              <a:t>March 27</a:t>
            </a:r>
            <a:r>
              <a:rPr lang="en-US" baseline="30000" dirty="0"/>
              <a:t>th</a:t>
            </a:r>
            <a:r>
              <a:rPr lang="en-US" dirty="0"/>
              <a:t>, 2023</a:t>
            </a:r>
            <a:endParaRPr lang="en-CA" dirty="0"/>
          </a:p>
        </p:txBody>
      </p:sp>
      <p:sp>
        <p:nvSpPr>
          <p:cNvPr id="4" name="Title 3">
            <a:extLst>
              <a:ext uri="{FF2B5EF4-FFF2-40B4-BE49-F238E27FC236}">
                <a16:creationId xmlns:a16="http://schemas.microsoft.com/office/drawing/2014/main" id="{C90576E3-D6C2-959C-B62D-85CAE4DA30FC}"/>
              </a:ext>
            </a:extLst>
          </p:cNvPr>
          <p:cNvSpPr>
            <a:spLocks noGrp="1"/>
          </p:cNvSpPr>
          <p:nvPr>
            <p:ph type="title"/>
          </p:nvPr>
        </p:nvSpPr>
        <p:spPr/>
        <p:txBody>
          <a:bodyPr/>
          <a:lstStyle/>
          <a:p>
            <a:r>
              <a:rPr lang="en-US" dirty="0" err="1"/>
              <a:t>Spalart-Allmaras</a:t>
            </a:r>
            <a:r>
              <a:rPr lang="en-US" dirty="0"/>
              <a:t> Turbulence Model</a:t>
            </a:r>
            <a:endParaRPr lang="en-CA" dirty="0"/>
          </a:p>
        </p:txBody>
      </p:sp>
    </p:spTree>
    <p:extLst>
      <p:ext uri="{BB962C8B-B14F-4D97-AF65-F5344CB8AC3E}">
        <p14:creationId xmlns:p14="http://schemas.microsoft.com/office/powerpoint/2010/main" val="532184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8FD606-5CB1-974A-9ADD-3713D6FB649B}"/>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Background</a:t>
            </a:r>
          </a:p>
          <a:p>
            <a:pPr marL="285750" indent="-285750">
              <a:buFont typeface="Arial" panose="020B0604020202020204" pitchFamily="34" charset="0"/>
              <a:buChar char="•"/>
            </a:pPr>
            <a:r>
              <a:rPr lang="en-US" dirty="0"/>
              <a:t>Goals in developing the model</a:t>
            </a:r>
          </a:p>
          <a:p>
            <a:pPr marL="285750" indent="-285750">
              <a:buFont typeface="Arial" panose="020B0604020202020204" pitchFamily="34" charset="0"/>
              <a:buChar char="•"/>
            </a:pPr>
            <a:r>
              <a:rPr lang="en-US" dirty="0"/>
              <a:t>Mathematical description</a:t>
            </a:r>
          </a:p>
          <a:p>
            <a:pPr marL="285750" indent="-285750">
              <a:buFont typeface="Arial" panose="020B0604020202020204" pitchFamily="34" charset="0"/>
              <a:buChar char="•"/>
            </a:pPr>
            <a:r>
              <a:rPr lang="en-US" dirty="0"/>
              <a:t>Boundary conditions</a:t>
            </a:r>
          </a:p>
          <a:p>
            <a:pPr marL="285750" indent="-285750">
              <a:buFont typeface="Arial" panose="020B0604020202020204" pitchFamily="34" charset="0"/>
              <a:buChar char="•"/>
            </a:pPr>
            <a:r>
              <a:rPr lang="en-US" dirty="0"/>
              <a:t>Benefits of this model</a:t>
            </a:r>
          </a:p>
          <a:p>
            <a:pPr marL="285750" indent="-285750">
              <a:buFont typeface="Arial" panose="020B0604020202020204" pitchFamily="34" charset="0"/>
              <a:buChar char="•"/>
            </a:pPr>
            <a:r>
              <a:rPr lang="en-US" dirty="0"/>
              <a:t>Shortcomings of this model</a:t>
            </a:r>
          </a:p>
          <a:p>
            <a:pPr marL="285750" indent="-285750">
              <a:buFont typeface="Arial" panose="020B0604020202020204" pitchFamily="34" charset="0"/>
              <a:buChar char="•"/>
            </a:pPr>
            <a:r>
              <a:rPr lang="en-US" dirty="0"/>
              <a:t>Question period</a:t>
            </a:r>
          </a:p>
          <a:p>
            <a:pPr marL="285750" indent="-285750">
              <a:buFont typeface="Arial" panose="020B0604020202020204" pitchFamily="34" charset="0"/>
              <a:buChar char="•"/>
            </a:pPr>
            <a:endParaRPr lang="en-CA" dirty="0"/>
          </a:p>
        </p:txBody>
      </p:sp>
      <p:sp>
        <p:nvSpPr>
          <p:cNvPr id="3" name="Title 2">
            <a:extLst>
              <a:ext uri="{FF2B5EF4-FFF2-40B4-BE49-F238E27FC236}">
                <a16:creationId xmlns:a16="http://schemas.microsoft.com/office/drawing/2014/main" id="{CCA34F09-6E20-8625-9BF5-0507C93605B9}"/>
              </a:ext>
            </a:extLst>
          </p:cNvPr>
          <p:cNvSpPr>
            <a:spLocks noGrp="1"/>
          </p:cNvSpPr>
          <p:nvPr>
            <p:ph type="title"/>
          </p:nvPr>
        </p:nvSpPr>
        <p:spPr/>
        <p:txBody>
          <a:bodyPr/>
          <a:lstStyle/>
          <a:p>
            <a:r>
              <a:rPr lang="en-US" dirty="0"/>
              <a:t>Agenda</a:t>
            </a:r>
            <a:endParaRPr lang="en-CA" dirty="0"/>
          </a:p>
        </p:txBody>
      </p:sp>
    </p:spTree>
    <p:extLst>
      <p:ext uri="{BB962C8B-B14F-4D97-AF65-F5344CB8AC3E}">
        <p14:creationId xmlns:p14="http://schemas.microsoft.com/office/powerpoint/2010/main" val="2788968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7E931-28E9-A76D-BD7D-FDFD046EDC0A}"/>
              </a:ext>
            </a:extLst>
          </p:cNvPr>
          <p:cNvSpPr>
            <a:spLocks noGrp="1"/>
          </p:cNvSpPr>
          <p:nvPr>
            <p:ph type="body" sz="quarter" idx="13"/>
          </p:nvPr>
        </p:nvSpPr>
        <p:spPr>
          <a:xfrm>
            <a:off x="438954" y="1131888"/>
            <a:ext cx="7661438" cy="2009080"/>
          </a:xfrm>
        </p:spPr>
        <p:txBody>
          <a:bodyPr/>
          <a:lstStyle/>
          <a:p>
            <a:pPr marL="285750" indent="-285750">
              <a:buFont typeface="Arial" panose="020B0604020202020204" pitchFamily="34" charset="0"/>
              <a:buChar char="•"/>
            </a:pPr>
            <a:r>
              <a:rPr lang="en-US" dirty="0"/>
              <a:t>In 1973, the k-</a:t>
            </a:r>
            <a:r>
              <a:rPr lang="el-GR" dirty="0"/>
              <a:t>ε</a:t>
            </a:r>
            <a:r>
              <a:rPr lang="en-US" dirty="0"/>
              <a:t> turbulence model was developed. </a:t>
            </a:r>
          </a:p>
          <a:p>
            <a:pPr marL="285750" indent="-285750">
              <a:buFont typeface="Arial" panose="020B0604020202020204" pitchFamily="34" charset="0"/>
              <a:buChar char="•"/>
            </a:pPr>
            <a:r>
              <a:rPr lang="en-US" dirty="0"/>
              <a:t>This model worked well for the most part, but it was determined to give inaccurate results for boundary layer flows with adverse pressure gradients.</a:t>
            </a:r>
          </a:p>
          <a:p>
            <a:pPr marL="285750" indent="-285750">
              <a:buFont typeface="Arial" panose="020B0604020202020204" pitchFamily="34" charset="0"/>
              <a:buChar char="•"/>
            </a:pPr>
            <a:r>
              <a:rPr lang="en-US" dirty="0"/>
              <a:t>This was especially true when shocks became present in the flow.</a:t>
            </a:r>
          </a:p>
          <a:p>
            <a:pPr marL="285750" indent="-285750">
              <a:buFont typeface="Arial" panose="020B0604020202020204" pitchFamily="34" charset="0"/>
              <a:buChar char="•"/>
            </a:pPr>
            <a:r>
              <a:rPr lang="en-US" dirty="0"/>
              <a:t>A new model was needed for aerodynamic flows, such as flow over wings, and turbomachinery.</a:t>
            </a:r>
            <a:endParaRPr lang="en-CA" dirty="0"/>
          </a:p>
        </p:txBody>
      </p:sp>
      <p:sp>
        <p:nvSpPr>
          <p:cNvPr id="3" name="Title 2">
            <a:extLst>
              <a:ext uri="{FF2B5EF4-FFF2-40B4-BE49-F238E27FC236}">
                <a16:creationId xmlns:a16="http://schemas.microsoft.com/office/drawing/2014/main" id="{9AAEBCEE-F224-A087-C427-48CC61637291}"/>
              </a:ext>
            </a:extLst>
          </p:cNvPr>
          <p:cNvSpPr>
            <a:spLocks noGrp="1"/>
          </p:cNvSpPr>
          <p:nvPr>
            <p:ph type="title"/>
          </p:nvPr>
        </p:nvSpPr>
        <p:spPr/>
        <p:txBody>
          <a:bodyPr/>
          <a:lstStyle/>
          <a:p>
            <a:r>
              <a:rPr lang="en-US" dirty="0"/>
              <a:t>Background</a:t>
            </a:r>
            <a:endParaRPr lang="en-CA" dirty="0"/>
          </a:p>
        </p:txBody>
      </p:sp>
      <p:pic>
        <p:nvPicPr>
          <p:cNvPr id="2050" name="Picture 2" descr="Processes | Free Full-Text | A Numerical Study on the Flow Mechanism of  Performance Improvement of a Wide-Angle Diffuser by Inserting a Short  Splitter Vane">
            <a:extLst>
              <a:ext uri="{FF2B5EF4-FFF2-40B4-BE49-F238E27FC236}">
                <a16:creationId xmlns:a16="http://schemas.microsoft.com/office/drawing/2014/main" id="{4B6267D8-2845-2D3D-74A9-CBC0AED876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4667" y="3409509"/>
            <a:ext cx="3914976" cy="219809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BC71ACE-1D7E-F1EF-D902-3BEAC2C19F23}"/>
              </a:ext>
            </a:extLst>
          </p:cNvPr>
          <p:cNvPicPr>
            <a:picLocks noChangeAspect="1"/>
          </p:cNvPicPr>
          <p:nvPr/>
        </p:nvPicPr>
        <p:blipFill>
          <a:blip r:embed="rId3"/>
          <a:stretch>
            <a:fillRect/>
          </a:stretch>
        </p:blipFill>
        <p:spPr>
          <a:xfrm>
            <a:off x="683568" y="3316945"/>
            <a:ext cx="3419872" cy="2383223"/>
          </a:xfrm>
          <a:prstGeom prst="rect">
            <a:avLst/>
          </a:prstGeom>
        </p:spPr>
      </p:pic>
      <p:sp>
        <p:nvSpPr>
          <p:cNvPr id="5" name="TextBox 4">
            <a:extLst>
              <a:ext uri="{FF2B5EF4-FFF2-40B4-BE49-F238E27FC236}">
                <a16:creationId xmlns:a16="http://schemas.microsoft.com/office/drawing/2014/main" id="{9C65BFCE-EE99-06FB-654B-1D8608257027}"/>
              </a:ext>
            </a:extLst>
          </p:cNvPr>
          <p:cNvSpPr txBox="1"/>
          <p:nvPr/>
        </p:nvSpPr>
        <p:spPr>
          <a:xfrm>
            <a:off x="4572000" y="5876864"/>
            <a:ext cx="3419872" cy="307777"/>
          </a:xfrm>
          <a:prstGeom prst="rect">
            <a:avLst/>
          </a:prstGeom>
          <a:noFill/>
        </p:spPr>
        <p:txBody>
          <a:bodyPr wrap="square" rtlCol="0">
            <a:spAutoFit/>
          </a:bodyPr>
          <a:lstStyle/>
          <a:p>
            <a:r>
              <a:rPr lang="en-US" sz="1400" dirty="0"/>
              <a:t>Separated flow in a diffuser [4]</a:t>
            </a:r>
            <a:endParaRPr lang="en-CA" sz="1400" dirty="0"/>
          </a:p>
        </p:txBody>
      </p:sp>
      <p:sp>
        <p:nvSpPr>
          <p:cNvPr id="6" name="TextBox 5">
            <a:extLst>
              <a:ext uri="{FF2B5EF4-FFF2-40B4-BE49-F238E27FC236}">
                <a16:creationId xmlns:a16="http://schemas.microsoft.com/office/drawing/2014/main" id="{2E551B62-0623-B5B9-E0FB-44D4AB18099D}"/>
              </a:ext>
            </a:extLst>
          </p:cNvPr>
          <p:cNvSpPr txBox="1"/>
          <p:nvPr/>
        </p:nvSpPr>
        <p:spPr>
          <a:xfrm>
            <a:off x="683568" y="5876145"/>
            <a:ext cx="3419872" cy="307777"/>
          </a:xfrm>
          <a:prstGeom prst="rect">
            <a:avLst/>
          </a:prstGeom>
          <a:noFill/>
        </p:spPr>
        <p:txBody>
          <a:bodyPr wrap="square" rtlCol="0">
            <a:spAutoFit/>
          </a:bodyPr>
          <a:lstStyle/>
          <a:p>
            <a:r>
              <a:rPr lang="en-US" sz="1400" dirty="0"/>
              <a:t>Separated flow over an airfoil [1]</a:t>
            </a:r>
            <a:endParaRPr lang="en-CA" sz="1400" dirty="0"/>
          </a:p>
        </p:txBody>
      </p:sp>
    </p:spTree>
    <p:extLst>
      <p:ext uri="{BB962C8B-B14F-4D97-AF65-F5344CB8AC3E}">
        <p14:creationId xmlns:p14="http://schemas.microsoft.com/office/powerpoint/2010/main" val="397136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A90D96-8546-B0B5-CAAC-A5A3586B2572}"/>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In 1988, the k-</a:t>
            </a:r>
            <a:r>
              <a:rPr lang="el-GR" dirty="0"/>
              <a:t>ω</a:t>
            </a:r>
            <a:r>
              <a:rPr lang="en-US" dirty="0"/>
              <a:t> turbulence model was developed.</a:t>
            </a:r>
          </a:p>
          <a:p>
            <a:pPr marL="285750" indent="-285750">
              <a:buFont typeface="Arial" panose="020B0604020202020204" pitchFamily="34" charset="0"/>
              <a:buChar char="•"/>
            </a:pPr>
            <a:r>
              <a:rPr lang="en-US" dirty="0"/>
              <a:t>In 1994 this turbulence model was further worked upon, and the k-</a:t>
            </a:r>
            <a:r>
              <a:rPr lang="el-GR" dirty="0"/>
              <a:t>ω</a:t>
            </a:r>
            <a:r>
              <a:rPr lang="en-US" dirty="0"/>
              <a:t> SST model was developed. </a:t>
            </a:r>
          </a:p>
          <a:p>
            <a:pPr marL="285750" indent="-285750">
              <a:buFont typeface="Arial" panose="020B0604020202020204" pitchFamily="34" charset="0"/>
              <a:buChar char="•"/>
            </a:pPr>
            <a:r>
              <a:rPr lang="en-US" dirty="0"/>
              <a:t>At the same time as these models were being developed, P. R. </a:t>
            </a:r>
            <a:r>
              <a:rPr lang="en-US" dirty="0" err="1"/>
              <a:t>Spalart</a:t>
            </a:r>
            <a:r>
              <a:rPr lang="en-US" dirty="0"/>
              <a:t>, and S.R. </a:t>
            </a:r>
            <a:r>
              <a:rPr lang="en-US" dirty="0" err="1"/>
              <a:t>Allmaras</a:t>
            </a:r>
            <a:r>
              <a:rPr lang="en-US" dirty="0"/>
              <a:t> were working at Boeing.</a:t>
            </a:r>
          </a:p>
          <a:p>
            <a:pPr marL="285750" indent="-285750">
              <a:buFont typeface="Arial" panose="020B0604020202020204" pitchFamily="34" charset="0"/>
              <a:buChar char="•"/>
            </a:pPr>
            <a:r>
              <a:rPr lang="en-US" dirty="0"/>
              <a:t>Boeing asked them to develop a turbulence model which would be more suitable for the aerodynamic flows faced in aircraft design. </a:t>
            </a:r>
          </a:p>
          <a:p>
            <a:pPr marL="285750" indent="-285750">
              <a:buFont typeface="Arial" panose="020B0604020202020204" pitchFamily="34" charset="0"/>
              <a:buChar char="•"/>
            </a:pPr>
            <a:r>
              <a:rPr lang="en-US" dirty="0"/>
              <a:t>In 1994, the same year as the k-</a:t>
            </a:r>
            <a:r>
              <a:rPr lang="el-GR" dirty="0"/>
              <a:t>ω</a:t>
            </a:r>
            <a:r>
              <a:rPr lang="en-US" dirty="0"/>
              <a:t> SST model was developed, the </a:t>
            </a:r>
            <a:r>
              <a:rPr lang="en-US" dirty="0" err="1"/>
              <a:t>Spalart-Allmaras</a:t>
            </a:r>
            <a:r>
              <a:rPr lang="en-US" dirty="0"/>
              <a:t> turbulence model was also developed. </a:t>
            </a:r>
          </a:p>
          <a:p>
            <a:pPr marL="285750" indent="-285750">
              <a:buFont typeface="Arial" panose="020B0604020202020204" pitchFamily="34" charset="0"/>
              <a:buChar char="•"/>
            </a:pPr>
            <a:r>
              <a:rPr lang="en-US" dirty="0"/>
              <a:t>All of these models aimed to better describe the boundary layer when inverse pressure gradients were present. </a:t>
            </a:r>
            <a:endParaRPr lang="en-CA" dirty="0"/>
          </a:p>
        </p:txBody>
      </p:sp>
      <p:sp>
        <p:nvSpPr>
          <p:cNvPr id="3" name="Title 2">
            <a:extLst>
              <a:ext uri="{FF2B5EF4-FFF2-40B4-BE49-F238E27FC236}">
                <a16:creationId xmlns:a16="http://schemas.microsoft.com/office/drawing/2014/main" id="{45085505-7442-2D7D-8CB7-96A490A71660}"/>
              </a:ext>
            </a:extLst>
          </p:cNvPr>
          <p:cNvSpPr>
            <a:spLocks noGrp="1"/>
          </p:cNvSpPr>
          <p:nvPr>
            <p:ph type="title"/>
          </p:nvPr>
        </p:nvSpPr>
        <p:spPr/>
        <p:txBody>
          <a:bodyPr/>
          <a:lstStyle/>
          <a:p>
            <a:r>
              <a:rPr lang="en-US" dirty="0"/>
              <a:t>Background (</a:t>
            </a:r>
            <a:r>
              <a:rPr lang="en-US" dirty="0" err="1"/>
              <a:t>cont</a:t>
            </a:r>
            <a:r>
              <a:rPr lang="en-US" dirty="0"/>
              <a:t>)</a:t>
            </a:r>
            <a:endParaRPr lang="en-CA" dirty="0"/>
          </a:p>
        </p:txBody>
      </p:sp>
    </p:spTree>
    <p:extLst>
      <p:ext uri="{BB962C8B-B14F-4D97-AF65-F5344CB8AC3E}">
        <p14:creationId xmlns:p14="http://schemas.microsoft.com/office/powerpoint/2010/main" val="2550574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B6625A-33A3-6AD7-4654-BB1CB790F8A9}"/>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Of course the main goal of the model was to better predict flow separation, and boundary layer flows given a flow with adverse pressure gradients.</a:t>
            </a:r>
          </a:p>
          <a:p>
            <a:pPr marL="285750" indent="-285750">
              <a:buFont typeface="Arial" panose="020B0604020202020204" pitchFamily="34" charset="0"/>
              <a:buChar char="•"/>
            </a:pPr>
            <a:r>
              <a:rPr lang="en-US" dirty="0"/>
              <a:t>They also developed with the following goals in mind,</a:t>
            </a:r>
          </a:p>
          <a:p>
            <a:pPr marL="825750" lvl="2" indent="-285750"/>
            <a:r>
              <a:rPr lang="en-US" dirty="0"/>
              <a:t>Applicable to unstructured and multi-block meshes. </a:t>
            </a:r>
          </a:p>
          <a:p>
            <a:pPr marL="825750" lvl="2" indent="-285750"/>
            <a:r>
              <a:rPr lang="en-US" dirty="0"/>
              <a:t>Minimal complexity in applying boundary conditions.</a:t>
            </a:r>
          </a:p>
          <a:p>
            <a:pPr marL="825750" lvl="2" indent="-285750"/>
            <a:r>
              <a:rPr lang="en-US" dirty="0"/>
              <a:t>Minimize computational cost.</a:t>
            </a:r>
          </a:p>
          <a:p>
            <a:pPr marL="825750" lvl="2" indent="-285750"/>
            <a:endParaRPr lang="en-CA" dirty="0"/>
          </a:p>
        </p:txBody>
      </p:sp>
      <p:sp>
        <p:nvSpPr>
          <p:cNvPr id="3" name="Title 2">
            <a:extLst>
              <a:ext uri="{FF2B5EF4-FFF2-40B4-BE49-F238E27FC236}">
                <a16:creationId xmlns:a16="http://schemas.microsoft.com/office/drawing/2014/main" id="{7AD180AF-9BA0-1203-3E5D-E667618CE895}"/>
              </a:ext>
            </a:extLst>
          </p:cNvPr>
          <p:cNvSpPr>
            <a:spLocks noGrp="1"/>
          </p:cNvSpPr>
          <p:nvPr>
            <p:ph type="title"/>
          </p:nvPr>
        </p:nvSpPr>
        <p:spPr/>
        <p:txBody>
          <a:bodyPr/>
          <a:lstStyle/>
          <a:p>
            <a:r>
              <a:rPr lang="en-US" dirty="0"/>
              <a:t>Goals in Developing the Model</a:t>
            </a:r>
            <a:endParaRPr lang="en-CA" dirty="0"/>
          </a:p>
        </p:txBody>
      </p:sp>
    </p:spTree>
    <p:extLst>
      <p:ext uri="{BB962C8B-B14F-4D97-AF65-F5344CB8AC3E}">
        <p14:creationId xmlns:p14="http://schemas.microsoft.com/office/powerpoint/2010/main" val="1950961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F85E542F-F046-C764-1052-47D1B7AA3E78}"/>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The </a:t>
                </a:r>
                <a:r>
                  <a:rPr lang="en-US" dirty="0" err="1"/>
                  <a:t>Spalart-Allmaras</a:t>
                </a:r>
                <a:r>
                  <a:rPr lang="en-US" dirty="0"/>
                  <a:t> is a Reynolds Averaged Navier Stokes (RANS) turbulence model. </a:t>
                </a:r>
              </a:p>
              <a:p>
                <a:pPr marL="285750" indent="-285750">
                  <a:buFont typeface="Arial" panose="020B0604020202020204" pitchFamily="34" charset="0"/>
                  <a:buChar char="•"/>
                </a:pPr>
                <a:r>
                  <a:rPr lang="en-US" dirty="0"/>
                  <a:t>In RANS turbulence models, the momentum equations of the Navier-Stokes are solved, with an additional term. </a:t>
                </a:r>
              </a:p>
              <a:p>
                <a:pPr marL="285750" indent="-285750">
                  <a:buFont typeface="Arial" panose="020B0604020202020204" pitchFamily="34" charset="0"/>
                  <a:buChar char="•"/>
                </a:pPr>
                <a:r>
                  <a:rPr lang="en-US" dirty="0"/>
                  <a:t>This term, </a:t>
                </a:r>
                <a:r>
                  <a:rPr lang="en-US" dirty="0" err="1"/>
                  <a:t>μ</a:t>
                </a:r>
                <a:r>
                  <a:rPr lang="en-US" baseline="-25000" dirty="0" err="1"/>
                  <a:t>t</a:t>
                </a:r>
                <a:r>
                  <a:rPr lang="en-US" dirty="0"/>
                  <a:t>, is known as the turbulent or eddy viscosity. It helps take the additional momentum transfer or “mixing” provided by turbulence into account, without having to directly model it. </a:t>
                </a:r>
              </a:p>
              <a:p>
                <a:pPr marL="285750" indent="-285750">
                  <a:buFont typeface="Arial" panose="020B0604020202020204" pitchFamily="34" charset="0"/>
                  <a:buChar char="•"/>
                </a:pPr>
                <a:endParaRPr lang="en-US" dirty="0"/>
              </a:p>
              <a:p>
                <a14:m>
                  <m:oMathPara xmlns:m="http://schemas.openxmlformats.org/officeDocument/2006/math">
                    <m:oMathParaPr>
                      <m:jc m:val="centerGroup"/>
                    </m:oMathParaPr>
                    <m:oMath xmlns:m="http://schemas.openxmlformats.org/officeDocument/2006/math">
                      <m:f>
                        <m:fPr>
                          <m:ctrlPr>
                            <a:rPr lang="en-CA" sz="1600" i="1" smtClean="0">
                              <a:solidFill>
                                <a:srgbClr val="000000"/>
                              </a:solidFill>
                              <a:effectLst/>
                              <a:latin typeface="Cambria Math" panose="02040503050406030204" pitchFamily="18" charset="0"/>
                              <a:ea typeface="Calibri" panose="020F0502020204030204" pitchFamily="34" charset="0"/>
                            </a:rPr>
                          </m:ctrlPr>
                        </m:fPr>
                        <m:num>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𝜌</m:t>
                          </m:r>
                          <m:r>
                            <a:rPr lang="en-CA" sz="1600" i="1">
                              <a:solidFill>
                                <a:srgbClr val="000000"/>
                              </a:solidFill>
                              <a:effectLst/>
                              <a:latin typeface="Cambria Math" panose="02040503050406030204" pitchFamily="18" charset="0"/>
                              <a:ea typeface="Calibri" panose="020F0502020204030204" pitchFamily="34" charset="0"/>
                            </a:rPr>
                            <m:t>𝑈</m:t>
                          </m:r>
                          <m:r>
                            <a:rPr lang="en-CA" sz="1600" i="1">
                              <a:solidFill>
                                <a:srgbClr val="000000"/>
                              </a:solidFill>
                              <a:effectLst/>
                              <a:latin typeface="Cambria Math" panose="02040503050406030204" pitchFamily="18" charset="0"/>
                              <a:ea typeface="Calibri" panose="020F0502020204030204" pitchFamily="34" charset="0"/>
                            </a:rPr>
                            <m:t>)</m:t>
                          </m:r>
                        </m:num>
                        <m:den>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𝑡</m:t>
                          </m:r>
                        </m:den>
                      </m:f>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d>
                        <m:dPr>
                          <m:ctrlPr>
                            <a:rPr lang="en-CA" sz="1600" i="1">
                              <a:solidFill>
                                <a:srgbClr val="000000"/>
                              </a:solidFill>
                              <a:effectLst/>
                              <a:latin typeface="Cambria Math" panose="02040503050406030204" pitchFamily="18" charset="0"/>
                              <a:ea typeface="Calibri" panose="020F0502020204030204" pitchFamily="34" charset="0"/>
                            </a:rPr>
                          </m:ctrlPr>
                        </m:dPr>
                        <m:e>
                          <m:r>
                            <a:rPr lang="en-CA" sz="1600" i="1">
                              <a:solidFill>
                                <a:srgbClr val="000000"/>
                              </a:solidFill>
                              <a:effectLst/>
                              <a:latin typeface="Cambria Math" panose="02040503050406030204" pitchFamily="18" charset="0"/>
                              <a:ea typeface="Calibri" panose="020F0502020204030204" pitchFamily="34" charset="0"/>
                            </a:rPr>
                            <m:t>𝜌</m:t>
                          </m:r>
                          <m:r>
                            <a:rPr lang="en-CA" sz="1600" i="1">
                              <a:solidFill>
                                <a:srgbClr val="000000"/>
                              </a:solidFill>
                              <a:effectLst/>
                              <a:latin typeface="Cambria Math" panose="02040503050406030204" pitchFamily="18" charset="0"/>
                              <a:ea typeface="Calibri" panose="020F0502020204030204" pitchFamily="34" charset="0"/>
                            </a:rPr>
                            <m:t>𝑈𝑈</m:t>
                          </m:r>
                        </m:e>
                      </m:d>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𝑝</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d>
                        <m:dPr>
                          <m:ctrlPr>
                            <a:rPr lang="en-CA" sz="1600" i="1">
                              <a:solidFill>
                                <a:srgbClr val="000000"/>
                              </a:solidFill>
                              <a:effectLst/>
                              <a:latin typeface="Cambria Math" panose="02040503050406030204" pitchFamily="18" charset="0"/>
                              <a:ea typeface="Calibri" panose="020F0502020204030204" pitchFamily="34" charset="0"/>
                            </a:rPr>
                          </m:ctrlPr>
                        </m:dPr>
                        <m:e>
                          <m:d>
                            <m:dPr>
                              <m:ctrlPr>
                                <a:rPr lang="en-CA" sz="1600" i="1">
                                  <a:solidFill>
                                    <a:srgbClr val="000000"/>
                                  </a:solidFill>
                                  <a:effectLst/>
                                  <a:latin typeface="Cambria Math" panose="02040503050406030204" pitchFamily="18" charset="0"/>
                                  <a:ea typeface="Calibri" panose="020F0502020204030204" pitchFamily="34" charset="0"/>
                                </a:rPr>
                              </m:ctrlPr>
                            </m:dPr>
                            <m:e>
                              <m:r>
                                <a:rPr lang="en-CA" sz="1600" i="1">
                                  <a:solidFill>
                                    <a:srgbClr val="000000"/>
                                  </a:solidFill>
                                  <a:effectLst/>
                                  <a:latin typeface="Cambria Math" panose="02040503050406030204" pitchFamily="18" charset="0"/>
                                  <a:ea typeface="Calibri" panose="020F0502020204030204" pitchFamily="34" charset="0"/>
                                </a:rPr>
                                <m:t>𝜇</m:t>
                              </m:r>
                              <m:r>
                                <a:rPr lang="en-CA" sz="1600" i="1">
                                  <a:solidFill>
                                    <a:srgbClr val="000000"/>
                                  </a:solidFill>
                                  <a:effectLst/>
                                  <a:latin typeface="Cambria Math" panose="02040503050406030204" pitchFamily="18" charset="0"/>
                                  <a:ea typeface="Calibri" panose="020F0502020204030204" pitchFamily="34" charset="0"/>
                                </a:rPr>
                                <m:t>+</m:t>
                              </m:r>
                              <m:sSub>
                                <m:sSubPr>
                                  <m:ctrlPr>
                                    <a:rPr lang="en-CA" sz="1600" i="1">
                                      <a:solidFill>
                                        <a:srgbClr val="FF0000"/>
                                      </a:solidFill>
                                      <a:effectLst/>
                                      <a:latin typeface="Cambria Math" panose="02040503050406030204" pitchFamily="18" charset="0"/>
                                      <a:ea typeface="Calibri" panose="020F0502020204030204" pitchFamily="34" charset="0"/>
                                    </a:rPr>
                                  </m:ctrlPr>
                                </m:sSubPr>
                                <m:e>
                                  <m:r>
                                    <a:rPr lang="en-CA" sz="1600" i="1">
                                      <a:solidFill>
                                        <a:srgbClr val="FF0000"/>
                                      </a:solidFill>
                                      <a:effectLst/>
                                      <a:latin typeface="Cambria Math" panose="02040503050406030204" pitchFamily="18" charset="0"/>
                                      <a:ea typeface="Calibri" panose="020F0502020204030204" pitchFamily="34" charset="0"/>
                                    </a:rPr>
                                    <m:t>𝜇</m:t>
                                  </m:r>
                                </m:e>
                                <m:sub>
                                  <m:r>
                                    <a:rPr lang="en-CA" sz="1600" i="1">
                                      <a:solidFill>
                                        <a:srgbClr val="FF0000"/>
                                      </a:solidFill>
                                      <a:effectLst/>
                                      <a:latin typeface="Cambria Math" panose="02040503050406030204" pitchFamily="18" charset="0"/>
                                      <a:ea typeface="Calibri" panose="020F0502020204030204" pitchFamily="34" charset="0"/>
                                    </a:rPr>
                                    <m:t>𝑡</m:t>
                                  </m:r>
                                </m:sub>
                              </m:sSub>
                            </m:e>
                          </m:d>
                          <m:d>
                            <m:dPr>
                              <m:ctrlPr>
                                <a:rPr lang="en-CA" sz="1600" i="1">
                                  <a:solidFill>
                                    <a:srgbClr val="000000"/>
                                  </a:solidFill>
                                  <a:effectLst/>
                                  <a:latin typeface="Cambria Math" panose="02040503050406030204" pitchFamily="18" charset="0"/>
                                  <a:ea typeface="Calibri" panose="020F0502020204030204" pitchFamily="34" charset="0"/>
                                </a:rPr>
                              </m:ctrlPr>
                            </m:dPr>
                            <m:e>
                              <m:d>
                                <m:dPr>
                                  <m:ctrlPr>
                                    <a:rPr lang="en-CA" sz="1600" i="1">
                                      <a:solidFill>
                                        <a:srgbClr val="000000"/>
                                      </a:solidFill>
                                      <a:effectLst/>
                                      <a:latin typeface="Cambria Math" panose="02040503050406030204" pitchFamily="18" charset="0"/>
                                      <a:ea typeface="Calibri" panose="020F0502020204030204" pitchFamily="34" charset="0"/>
                                    </a:rPr>
                                  </m:ctrlPr>
                                </m:dPr>
                                <m:e>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𝑈</m:t>
                                  </m:r>
                                </m:e>
                              </m:d>
                              <m:r>
                                <a:rPr lang="en-CA" sz="1600" i="1">
                                  <a:solidFill>
                                    <a:srgbClr val="000000"/>
                                  </a:solidFill>
                                  <a:effectLst/>
                                  <a:latin typeface="Cambria Math" panose="02040503050406030204" pitchFamily="18" charset="0"/>
                                  <a:ea typeface="Calibri" panose="020F0502020204030204" pitchFamily="34" charset="0"/>
                                </a:rPr>
                                <m:t>+</m:t>
                              </m:r>
                              <m:sSup>
                                <m:sSupPr>
                                  <m:ctrlPr>
                                    <a:rPr lang="en-CA" sz="1600" i="1">
                                      <a:solidFill>
                                        <a:srgbClr val="000000"/>
                                      </a:solidFill>
                                      <a:effectLst/>
                                      <a:latin typeface="Cambria Math" panose="02040503050406030204" pitchFamily="18" charset="0"/>
                                      <a:ea typeface="Calibri" panose="020F0502020204030204" pitchFamily="34" charset="0"/>
                                    </a:rPr>
                                  </m:ctrlPr>
                                </m:sSupPr>
                                <m:e>
                                  <m:d>
                                    <m:dPr>
                                      <m:ctrlPr>
                                        <a:rPr lang="en-CA" sz="1600" i="1">
                                          <a:solidFill>
                                            <a:srgbClr val="000000"/>
                                          </a:solidFill>
                                          <a:effectLst/>
                                          <a:latin typeface="Cambria Math" panose="02040503050406030204" pitchFamily="18" charset="0"/>
                                          <a:ea typeface="Calibri" panose="020F0502020204030204" pitchFamily="34" charset="0"/>
                                        </a:rPr>
                                      </m:ctrlPr>
                                    </m:dPr>
                                    <m:e>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𝑈</m:t>
                                      </m:r>
                                    </m:e>
                                  </m:d>
                                </m:e>
                                <m:sup>
                                  <m:r>
                                    <a:rPr lang="en-CA" sz="1600" i="1">
                                      <a:solidFill>
                                        <a:srgbClr val="000000"/>
                                      </a:solidFill>
                                      <a:effectLst/>
                                      <a:latin typeface="Cambria Math" panose="02040503050406030204" pitchFamily="18" charset="0"/>
                                      <a:ea typeface="Calibri" panose="020F0502020204030204" pitchFamily="34" charset="0"/>
                                    </a:rPr>
                                    <m:t>𝑇</m:t>
                                  </m:r>
                                </m:sup>
                              </m:sSup>
                            </m:e>
                          </m:d>
                        </m:e>
                      </m:d>
                      <m:r>
                        <a:rPr lang="en-CA" sz="1600" i="1">
                          <a:solidFill>
                            <a:srgbClr val="000000"/>
                          </a:solidFill>
                          <a:effectLst/>
                          <a:latin typeface="Cambria Math" panose="02040503050406030204" pitchFamily="18" charset="0"/>
                          <a:ea typeface="Calibri" panose="020F0502020204030204" pitchFamily="34" charset="0"/>
                        </a:rPr>
                        <m:t>−</m:t>
                      </m:r>
                      <m:f>
                        <m:fPr>
                          <m:ctrlPr>
                            <a:rPr lang="en-CA" sz="1600" i="1">
                              <a:solidFill>
                                <a:srgbClr val="000000"/>
                              </a:solidFill>
                              <a:effectLst/>
                              <a:latin typeface="Cambria Math" panose="02040503050406030204" pitchFamily="18" charset="0"/>
                              <a:ea typeface="Calibri" panose="020F0502020204030204" pitchFamily="34" charset="0"/>
                            </a:rPr>
                          </m:ctrlPr>
                        </m:fPr>
                        <m:num>
                          <m:r>
                            <a:rPr lang="en-CA" sz="1600" i="1">
                              <a:solidFill>
                                <a:srgbClr val="000000"/>
                              </a:solidFill>
                              <a:effectLst/>
                              <a:latin typeface="Cambria Math" panose="02040503050406030204" pitchFamily="18" charset="0"/>
                              <a:ea typeface="Calibri" panose="020F0502020204030204" pitchFamily="34" charset="0"/>
                            </a:rPr>
                            <m:t>2</m:t>
                          </m:r>
                        </m:num>
                        <m:den>
                          <m:r>
                            <a:rPr lang="en-CA" sz="1600" i="1">
                              <a:solidFill>
                                <a:srgbClr val="000000"/>
                              </a:solidFill>
                              <a:effectLst/>
                              <a:latin typeface="Cambria Math" panose="02040503050406030204" pitchFamily="18" charset="0"/>
                              <a:ea typeface="Calibri" panose="020F0502020204030204" pitchFamily="34" charset="0"/>
                            </a:rPr>
                            <m:t>3</m:t>
                          </m:r>
                        </m:den>
                      </m:f>
                      <m:r>
                        <a:rPr lang="en-CA" sz="1600" i="1">
                          <a:solidFill>
                            <a:srgbClr val="000000"/>
                          </a:solidFill>
                          <a:effectLst/>
                          <a:latin typeface="Cambria Math" panose="02040503050406030204" pitchFamily="18" charset="0"/>
                          <a:ea typeface="Calibri" panose="020F0502020204030204" pitchFamily="34" charset="0"/>
                        </a:rPr>
                        <m:t>𝜇</m:t>
                      </m:r>
                      <m:d>
                        <m:dPr>
                          <m:ctrlPr>
                            <a:rPr lang="en-CA" sz="1600" i="1">
                              <a:solidFill>
                                <a:srgbClr val="000000"/>
                              </a:solidFill>
                              <a:effectLst/>
                              <a:latin typeface="Cambria Math" panose="02040503050406030204" pitchFamily="18" charset="0"/>
                              <a:ea typeface="Calibri" panose="020F0502020204030204" pitchFamily="34" charset="0"/>
                            </a:rPr>
                          </m:ctrlPr>
                        </m:dPr>
                        <m:e>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𝑈</m:t>
                          </m:r>
                        </m:e>
                      </m:d>
                      <m:r>
                        <a:rPr lang="en-CA" sz="1600" i="1">
                          <a:solidFill>
                            <a:srgbClr val="000000"/>
                          </a:solidFill>
                          <a:effectLst/>
                          <a:latin typeface="Cambria Math" panose="02040503050406030204" pitchFamily="18" charset="0"/>
                          <a:ea typeface="Calibri" panose="020F0502020204030204" pitchFamily="34" charset="0"/>
                        </a:rPr>
                        <m:t>𝐼</m:t>
                      </m:r>
                      <m:r>
                        <a:rPr lang="en-CA" sz="1600" i="1">
                          <a:solidFill>
                            <a:srgbClr val="000000"/>
                          </a:solidFill>
                          <a:effectLst/>
                          <a:latin typeface="Cambria Math" panose="02040503050406030204" pitchFamily="18" charset="0"/>
                          <a:ea typeface="Calibri" panose="020F0502020204030204" pitchFamily="34" charset="0"/>
                        </a:rPr>
                        <m:t>+</m:t>
                      </m:r>
                      <m:r>
                        <a:rPr lang="en-CA" sz="1600" i="1">
                          <a:solidFill>
                            <a:srgbClr val="000000"/>
                          </a:solidFill>
                          <a:effectLst/>
                          <a:latin typeface="Cambria Math" panose="02040503050406030204" pitchFamily="18" charset="0"/>
                          <a:ea typeface="Calibri" panose="020F0502020204030204" pitchFamily="34" charset="0"/>
                        </a:rPr>
                        <m:t>𝜌</m:t>
                      </m:r>
                      <m:r>
                        <a:rPr lang="en-CA" sz="1600" i="1">
                          <a:solidFill>
                            <a:srgbClr val="000000"/>
                          </a:solidFill>
                          <a:effectLst/>
                          <a:latin typeface="Cambria Math" panose="02040503050406030204" pitchFamily="18" charset="0"/>
                          <a:ea typeface="Calibri" panose="020F0502020204030204" pitchFamily="34" charset="0"/>
                        </a:rPr>
                        <m:t>𝑔</m:t>
                      </m:r>
                    </m:oMath>
                  </m:oMathPara>
                </a14:m>
                <a:endParaRPr lang="en-CA" sz="1600" dirty="0">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CA" dirty="0"/>
              </a:p>
            </p:txBody>
          </p:sp>
        </mc:Choice>
        <mc:Fallback>
          <p:sp>
            <p:nvSpPr>
              <p:cNvPr id="2" name="Text Placeholder 1">
                <a:extLst>
                  <a:ext uri="{FF2B5EF4-FFF2-40B4-BE49-F238E27FC236}">
                    <a16:creationId xmlns:a16="http://schemas.microsoft.com/office/drawing/2014/main" id="{F85E542F-F046-C764-1052-47D1B7AA3E78}"/>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1432" t="-339" r="-2068"/>
                </a:stretch>
              </a:blipFill>
            </p:spPr>
            <p:txBody>
              <a:bodyPr/>
              <a:lstStyle/>
              <a:p>
                <a:r>
                  <a:rPr lang="en-CA">
                    <a:noFill/>
                  </a:rPr>
                  <a:t> </a:t>
                </a:r>
              </a:p>
            </p:txBody>
          </p:sp>
        </mc:Fallback>
      </mc:AlternateContent>
      <p:sp>
        <p:nvSpPr>
          <p:cNvPr id="3" name="Title 2">
            <a:extLst>
              <a:ext uri="{FF2B5EF4-FFF2-40B4-BE49-F238E27FC236}">
                <a16:creationId xmlns:a16="http://schemas.microsoft.com/office/drawing/2014/main" id="{F6A0FB39-D57D-7C5A-0B82-CFD8874EEF8E}"/>
              </a:ext>
            </a:extLst>
          </p:cNvPr>
          <p:cNvSpPr>
            <a:spLocks noGrp="1"/>
          </p:cNvSpPr>
          <p:nvPr>
            <p:ph type="title"/>
          </p:nvPr>
        </p:nvSpPr>
        <p:spPr/>
        <p:txBody>
          <a:bodyPr/>
          <a:lstStyle/>
          <a:p>
            <a:r>
              <a:rPr lang="en-US" dirty="0"/>
              <a:t>Mathematical Description</a:t>
            </a:r>
            <a:endParaRPr lang="en-CA" dirty="0"/>
          </a:p>
        </p:txBody>
      </p:sp>
      <p:cxnSp>
        <p:nvCxnSpPr>
          <p:cNvPr id="5" name="Straight Arrow Connector 4">
            <a:extLst>
              <a:ext uri="{FF2B5EF4-FFF2-40B4-BE49-F238E27FC236}">
                <a16:creationId xmlns:a16="http://schemas.microsoft.com/office/drawing/2014/main" id="{07F2AF77-327F-6027-1299-BF81221248FC}"/>
              </a:ext>
            </a:extLst>
          </p:cNvPr>
          <p:cNvCxnSpPr>
            <a:cxnSpLocks/>
            <a:stCxn id="6" idx="0"/>
          </p:cNvCxnSpPr>
          <p:nvPr/>
        </p:nvCxnSpPr>
        <p:spPr>
          <a:xfrm flipV="1">
            <a:off x="4211960" y="3789040"/>
            <a:ext cx="72008" cy="504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C1FC464-594F-E063-9AD1-802A3BCFD647}"/>
              </a:ext>
            </a:extLst>
          </p:cNvPr>
          <p:cNvSpPr txBox="1"/>
          <p:nvPr/>
        </p:nvSpPr>
        <p:spPr>
          <a:xfrm>
            <a:off x="3563888" y="4293096"/>
            <a:ext cx="1296144" cy="523220"/>
          </a:xfrm>
          <a:prstGeom prst="rect">
            <a:avLst/>
          </a:prstGeom>
          <a:noFill/>
        </p:spPr>
        <p:txBody>
          <a:bodyPr wrap="square" rtlCol="0">
            <a:spAutoFit/>
          </a:bodyPr>
          <a:lstStyle/>
          <a:p>
            <a:r>
              <a:rPr lang="en-US" sz="1400" dirty="0"/>
              <a:t>Turbulent Viscosity</a:t>
            </a:r>
            <a:endParaRPr lang="en-CA" sz="1400" dirty="0"/>
          </a:p>
        </p:txBody>
      </p:sp>
    </p:spTree>
    <p:extLst>
      <p:ext uri="{BB962C8B-B14F-4D97-AF65-F5344CB8AC3E}">
        <p14:creationId xmlns:p14="http://schemas.microsoft.com/office/powerpoint/2010/main" val="2032070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35F88206-2475-E1C7-E224-E2A0AA61321E}"/>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Many models have 2 or more equations to determine the turbulent viscosity term. </a:t>
                </a:r>
              </a:p>
              <a:p>
                <a:pPr marL="285750" indent="-285750">
                  <a:buFont typeface="Arial" panose="020B0604020202020204" pitchFamily="34" charset="0"/>
                  <a:buChar char="•"/>
                </a:pPr>
                <a:r>
                  <a:rPr lang="en-US" dirty="0"/>
                  <a:t>The </a:t>
                </a:r>
                <a:r>
                  <a:rPr lang="en-US" dirty="0" err="1"/>
                  <a:t>Spalart-Allmaras</a:t>
                </a:r>
                <a:r>
                  <a:rPr lang="en-US" dirty="0"/>
                  <a:t> only solves one equation to determine this term.</a:t>
                </a:r>
              </a:p>
              <a:p>
                <a:pPr marL="285750" indent="-285750">
                  <a:buFont typeface="Arial" panose="020B0604020202020204" pitchFamily="34" charset="0"/>
                  <a:buChar char="•"/>
                </a:pPr>
                <a:r>
                  <a:rPr lang="en-US" dirty="0"/>
                  <a:t>To further understand how turbulent viscosity works, it helps to look at the turbulent viscosity distribution as you move further from a flat plate. </a:t>
                </a:r>
              </a:p>
              <a:p>
                <a:pPr marL="285750" indent="-285750">
                  <a:buFont typeface="Arial" panose="020B0604020202020204" pitchFamily="34" charset="0"/>
                  <a:buChar char="•"/>
                </a:pPr>
                <a:r>
                  <a:rPr lang="en-US" dirty="0"/>
                  <a:t>Close to the wall, the turbulent viscosity varies by a 4</a:t>
                </a:r>
                <a:r>
                  <a:rPr lang="en-US" baseline="30000" dirty="0"/>
                  <a:t>th</a:t>
                </a:r>
                <a:r>
                  <a:rPr lang="en-US" dirty="0"/>
                  <a:t> order function. This proves difficult to accurately model without many cells near the wall.</a:t>
                </a:r>
              </a:p>
              <a:p>
                <a:pPr marL="285750" indent="-285750">
                  <a:buFont typeface="Arial" panose="020B0604020202020204" pitchFamily="34" charset="0"/>
                  <a:buChar char="•"/>
                </a:pPr>
                <a:r>
                  <a:rPr lang="en-US" dirty="0"/>
                  <a:t>To get around this, the </a:t>
                </a:r>
                <a:r>
                  <a:rPr lang="en-US" dirty="0" err="1"/>
                  <a:t>Spalart-Allmaras</a:t>
                </a:r>
                <a:r>
                  <a:rPr lang="en-US" dirty="0"/>
                  <a:t> solves for a term, </a:t>
                </a:r>
                <a14:m>
                  <m:oMath xmlns:m="http://schemas.openxmlformats.org/officeDocument/2006/math">
                    <m:acc>
                      <m:accPr>
                        <m:chr m:val="̃"/>
                        <m:ctrlPr>
                          <a:rPr lang="en-US" i="1" smtClean="0">
                            <a:latin typeface="Cambria Math" panose="02040503050406030204" pitchFamily="18" charset="0"/>
                          </a:rPr>
                        </m:ctrlPr>
                      </m:accPr>
                      <m:e>
                        <m:r>
                          <m:rPr>
                            <m:sty m:val="p"/>
                          </m:rPr>
                          <a:rPr lang="el-GR" i="1" smtClean="0">
                            <a:latin typeface="Cambria Math" panose="02040503050406030204" pitchFamily="18" charset="0"/>
                          </a:rPr>
                          <m:t>ν</m:t>
                        </m:r>
                      </m:e>
                    </m:acc>
                  </m:oMath>
                </a14:m>
                <a:r>
                  <a:rPr lang="en-CA" dirty="0"/>
                  <a:t>, which describes the linear region.</a:t>
                </a:r>
              </a:p>
            </p:txBody>
          </p:sp>
        </mc:Choice>
        <mc:Fallback>
          <p:sp>
            <p:nvSpPr>
              <p:cNvPr id="2" name="Text Placeholder 1">
                <a:extLst>
                  <a:ext uri="{FF2B5EF4-FFF2-40B4-BE49-F238E27FC236}">
                    <a16:creationId xmlns:a16="http://schemas.microsoft.com/office/drawing/2014/main" id="{35F88206-2475-E1C7-E224-E2A0AA61321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1432" t="-339" r="-1273"/>
                </a:stretch>
              </a:blipFill>
            </p:spPr>
            <p:txBody>
              <a:bodyPr/>
              <a:lstStyle/>
              <a:p>
                <a:r>
                  <a:rPr lang="en-CA">
                    <a:noFill/>
                  </a:rPr>
                  <a:t> </a:t>
                </a:r>
              </a:p>
            </p:txBody>
          </p:sp>
        </mc:Fallback>
      </mc:AlternateContent>
      <p:sp>
        <p:nvSpPr>
          <p:cNvPr id="3" name="Title 2">
            <a:extLst>
              <a:ext uri="{FF2B5EF4-FFF2-40B4-BE49-F238E27FC236}">
                <a16:creationId xmlns:a16="http://schemas.microsoft.com/office/drawing/2014/main" id="{272A3F36-B404-5861-6E37-6FEB4D729706}"/>
              </a:ext>
            </a:extLst>
          </p:cNvPr>
          <p:cNvSpPr>
            <a:spLocks noGrp="1"/>
          </p:cNvSpPr>
          <p:nvPr>
            <p:ph type="title"/>
          </p:nvPr>
        </p:nvSpPr>
        <p:spPr/>
        <p:txBody>
          <a:bodyPr/>
          <a:lstStyle/>
          <a:p>
            <a:r>
              <a:rPr lang="en-US" dirty="0"/>
              <a:t>Turbulent Viscosity</a:t>
            </a:r>
            <a:endParaRPr lang="en-CA" dirty="0"/>
          </a:p>
        </p:txBody>
      </p:sp>
      <p:pic>
        <p:nvPicPr>
          <p:cNvPr id="5" name="Picture 4">
            <a:extLst>
              <a:ext uri="{FF2B5EF4-FFF2-40B4-BE49-F238E27FC236}">
                <a16:creationId xmlns:a16="http://schemas.microsoft.com/office/drawing/2014/main" id="{67B6C26E-6869-9E55-2956-B4562C4DCE49}"/>
              </a:ext>
            </a:extLst>
          </p:cNvPr>
          <p:cNvPicPr>
            <a:picLocks noChangeAspect="1"/>
          </p:cNvPicPr>
          <p:nvPr/>
        </p:nvPicPr>
        <p:blipFill>
          <a:blip r:embed="rId3"/>
          <a:stretch>
            <a:fillRect/>
          </a:stretch>
        </p:blipFill>
        <p:spPr>
          <a:xfrm>
            <a:off x="3115145" y="3236311"/>
            <a:ext cx="3315214" cy="2823279"/>
          </a:xfrm>
          <a:prstGeom prst="rect">
            <a:avLst/>
          </a:prstGeom>
        </p:spPr>
      </p:pic>
      <p:sp>
        <p:nvSpPr>
          <p:cNvPr id="6" name="TextBox 5">
            <a:extLst>
              <a:ext uri="{FF2B5EF4-FFF2-40B4-BE49-F238E27FC236}">
                <a16:creationId xmlns:a16="http://schemas.microsoft.com/office/drawing/2014/main" id="{D906CE1E-4BE3-FA53-07D4-7CADB92E8164}"/>
              </a:ext>
            </a:extLst>
          </p:cNvPr>
          <p:cNvSpPr txBox="1"/>
          <p:nvPr/>
        </p:nvSpPr>
        <p:spPr>
          <a:xfrm>
            <a:off x="6944882" y="3750977"/>
            <a:ext cx="1512168" cy="584775"/>
          </a:xfrm>
          <a:prstGeom prst="rect">
            <a:avLst/>
          </a:prstGeom>
          <a:noFill/>
        </p:spPr>
        <p:txBody>
          <a:bodyPr wrap="square" rtlCol="0">
            <a:spAutoFit/>
          </a:bodyPr>
          <a:lstStyle/>
          <a:p>
            <a:r>
              <a:rPr lang="en-US" sz="1600" dirty="0"/>
              <a:t>Linear Distribution</a:t>
            </a:r>
            <a:endParaRPr lang="en-CA" sz="1600" dirty="0"/>
          </a:p>
        </p:txBody>
      </p:sp>
      <p:sp>
        <p:nvSpPr>
          <p:cNvPr id="7" name="TextBox 6">
            <a:extLst>
              <a:ext uri="{FF2B5EF4-FFF2-40B4-BE49-F238E27FC236}">
                <a16:creationId xmlns:a16="http://schemas.microsoft.com/office/drawing/2014/main" id="{10A125F3-E68F-13A7-E6C6-0613BB3C6AD4}"/>
              </a:ext>
            </a:extLst>
          </p:cNvPr>
          <p:cNvSpPr txBox="1"/>
          <p:nvPr/>
        </p:nvSpPr>
        <p:spPr>
          <a:xfrm>
            <a:off x="6804248" y="4722662"/>
            <a:ext cx="1512168" cy="830997"/>
          </a:xfrm>
          <a:prstGeom prst="rect">
            <a:avLst/>
          </a:prstGeom>
          <a:noFill/>
        </p:spPr>
        <p:txBody>
          <a:bodyPr wrap="square" rtlCol="0">
            <a:spAutoFit/>
          </a:bodyPr>
          <a:lstStyle/>
          <a:p>
            <a:r>
              <a:rPr lang="en-US" sz="1600" dirty="0"/>
              <a:t>Distribution varies with (y</a:t>
            </a:r>
            <a:r>
              <a:rPr lang="en-US" sz="1600" baseline="30000" dirty="0"/>
              <a:t>+</a:t>
            </a:r>
            <a:r>
              <a:rPr lang="en-US" sz="1600" dirty="0"/>
              <a:t>)</a:t>
            </a:r>
            <a:r>
              <a:rPr lang="en-US" sz="1600" baseline="30000" dirty="0"/>
              <a:t>4</a:t>
            </a:r>
            <a:endParaRPr lang="en-CA" sz="1600" dirty="0"/>
          </a:p>
        </p:txBody>
      </p:sp>
      <p:cxnSp>
        <p:nvCxnSpPr>
          <p:cNvPr id="9" name="Straight Arrow Connector 8">
            <a:extLst>
              <a:ext uri="{FF2B5EF4-FFF2-40B4-BE49-F238E27FC236}">
                <a16:creationId xmlns:a16="http://schemas.microsoft.com/office/drawing/2014/main" id="{AF05F3FD-4DE6-476E-9E5A-6D90316A55A2}"/>
              </a:ext>
            </a:extLst>
          </p:cNvPr>
          <p:cNvCxnSpPr>
            <a:stCxn id="7" idx="1"/>
          </p:cNvCxnSpPr>
          <p:nvPr/>
        </p:nvCxnSpPr>
        <p:spPr>
          <a:xfrm flipH="1">
            <a:off x="4441833" y="5138161"/>
            <a:ext cx="2362415" cy="1605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2D5836D-12A3-E4A7-9C75-D9FA3FB3C247}"/>
              </a:ext>
            </a:extLst>
          </p:cNvPr>
          <p:cNvCxnSpPr>
            <a:cxnSpLocks/>
            <a:stCxn id="6" idx="1"/>
          </p:cNvCxnSpPr>
          <p:nvPr/>
        </p:nvCxnSpPr>
        <p:spPr>
          <a:xfrm flipH="1" flipV="1">
            <a:off x="6080786" y="3644365"/>
            <a:ext cx="864096" cy="399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3616344-F9B8-BDEA-7D14-7648FAD40A67}"/>
              </a:ext>
            </a:extLst>
          </p:cNvPr>
          <p:cNvSpPr txBox="1"/>
          <p:nvPr/>
        </p:nvSpPr>
        <p:spPr>
          <a:xfrm>
            <a:off x="3322620" y="5994613"/>
            <a:ext cx="3942755" cy="830997"/>
          </a:xfrm>
          <a:prstGeom prst="rect">
            <a:avLst/>
          </a:prstGeom>
          <a:noFill/>
        </p:spPr>
        <p:txBody>
          <a:bodyPr wrap="square" rtlCol="0">
            <a:spAutoFit/>
          </a:bodyPr>
          <a:lstStyle/>
          <a:p>
            <a:r>
              <a:rPr lang="en-US" sz="1600" dirty="0"/>
              <a:t>Turbulent viscosity variation as the normal distance from the wall increases [4]</a:t>
            </a:r>
            <a:endParaRPr lang="en-CA" sz="1600"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5358D0D-ACC5-D1FB-5E81-7C3F9185EFBB}"/>
                  </a:ext>
                </a:extLst>
              </p:cNvPr>
              <p:cNvSpPr txBox="1"/>
              <p:nvPr/>
            </p:nvSpPr>
            <p:spPr>
              <a:xfrm>
                <a:off x="1319850" y="4190749"/>
                <a:ext cx="914400"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m:rPr>
                              <m:sty m:val="p"/>
                            </m:rPr>
                            <a:rPr lang="el-GR" i="1" smtClean="0">
                              <a:latin typeface="Cambria Math" panose="02040503050406030204" pitchFamily="18" charset="0"/>
                            </a:rPr>
                            <m:t>ν</m:t>
                          </m:r>
                        </m:e>
                      </m:acc>
                    </m:oMath>
                  </m:oMathPara>
                </a14:m>
                <a:endParaRPr lang="en-CA" dirty="0"/>
              </a:p>
            </p:txBody>
          </p:sp>
        </mc:Choice>
        <mc:Fallback>
          <p:sp>
            <p:nvSpPr>
              <p:cNvPr id="14" name="TextBox 13">
                <a:extLst>
                  <a:ext uri="{FF2B5EF4-FFF2-40B4-BE49-F238E27FC236}">
                    <a16:creationId xmlns:a16="http://schemas.microsoft.com/office/drawing/2014/main" id="{05358D0D-ACC5-D1FB-5E81-7C3F9185EFBB}"/>
                  </a:ext>
                </a:extLst>
              </p:cNvPr>
              <p:cNvSpPr txBox="1">
                <a:spLocks noRot="1" noChangeAspect="1" noMove="1" noResize="1" noEditPoints="1" noAdjustHandles="1" noChangeArrowheads="1" noChangeShapeType="1" noTextEdit="1"/>
              </p:cNvSpPr>
              <p:nvPr/>
            </p:nvSpPr>
            <p:spPr>
              <a:xfrm>
                <a:off x="1319850" y="4190749"/>
                <a:ext cx="914400" cy="461665"/>
              </a:xfrm>
              <a:prstGeom prst="rect">
                <a:avLst/>
              </a:prstGeom>
              <a:blipFill>
                <a:blip r:embed="rId4"/>
                <a:stretch>
                  <a:fillRect r="-4667"/>
                </a:stretch>
              </a:blipFill>
            </p:spPr>
            <p:txBody>
              <a:bodyPr/>
              <a:lstStyle/>
              <a:p>
                <a:r>
                  <a:rPr lang="en-CA">
                    <a:noFill/>
                  </a:rPr>
                  <a:t> </a:t>
                </a:r>
              </a:p>
            </p:txBody>
          </p:sp>
        </mc:Fallback>
      </mc:AlternateContent>
      <p:cxnSp>
        <p:nvCxnSpPr>
          <p:cNvPr id="16" name="Straight Arrow Connector 15">
            <a:extLst>
              <a:ext uri="{FF2B5EF4-FFF2-40B4-BE49-F238E27FC236}">
                <a16:creationId xmlns:a16="http://schemas.microsoft.com/office/drawing/2014/main" id="{7F27321D-9651-AD61-5A4A-1460BE5CB99E}"/>
              </a:ext>
            </a:extLst>
          </p:cNvPr>
          <p:cNvCxnSpPr>
            <a:stCxn id="14" idx="3"/>
          </p:cNvCxnSpPr>
          <p:nvPr/>
        </p:nvCxnSpPr>
        <p:spPr>
          <a:xfrm>
            <a:off x="2234250" y="4421582"/>
            <a:ext cx="2035423" cy="5915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0896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60555238-65C8-3216-7792-1F3DBB263FF9}"/>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In order to determine the modified turbulent viscosity, a single transport equation is described. </a:t>
                </a:r>
              </a:p>
              <a:p>
                <a14:m>
                  <m:oMathPara xmlns:m="http://schemas.openxmlformats.org/officeDocument/2006/math">
                    <m:oMathParaPr>
                      <m:jc m:val="centerGroup"/>
                    </m:oMathParaPr>
                    <m:oMath xmlns:m="http://schemas.openxmlformats.org/officeDocument/2006/math">
                      <m:f>
                        <m:fPr>
                          <m:ctrlPr>
                            <a:rPr lang="en-CA" sz="1800" i="1" smtClean="0">
                              <a:solidFill>
                                <a:srgbClr val="000000"/>
                              </a:solidFill>
                              <a:effectLst/>
                              <a:latin typeface="Cambria Math" panose="02040503050406030204" pitchFamily="18" charset="0"/>
                              <a:ea typeface="Calibri" panose="020F0502020204030204" pitchFamily="34" charset="0"/>
                            </a:rPr>
                          </m:ctrlPr>
                        </m:fPr>
                        <m:num>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r>
                            <a:rPr lang="en-CA" sz="1800" i="1">
                              <a:solidFill>
                                <a:srgbClr val="000000"/>
                              </a:solidFill>
                              <a:effectLst/>
                              <a:latin typeface="Cambria Math" panose="02040503050406030204" pitchFamily="18" charset="0"/>
                              <a:ea typeface="Calibri" panose="020F0502020204030204" pitchFamily="34" charset="0"/>
                            </a:rPr>
                            <m:t>)</m:t>
                          </m:r>
                        </m:num>
                        <m:den>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𝑡</m:t>
                          </m:r>
                        </m:den>
                      </m:f>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m:t>
                      </m:r>
                      <m:d>
                        <m:dPr>
                          <m:ctrlPr>
                            <a:rPr lang="en-CA" sz="1800" i="1">
                              <a:solidFill>
                                <a:srgbClr val="000000"/>
                              </a:solidFill>
                              <a:effectLst/>
                              <a:latin typeface="Cambria Math" panose="02040503050406030204" pitchFamily="18" charset="0"/>
                              <a:ea typeface="Calibri" panose="020F0502020204030204" pitchFamily="34" charset="0"/>
                            </a:rPr>
                          </m:ctrlPr>
                        </m:dPr>
                        <m:e>
                          <m:r>
                            <a:rPr lang="en-CA" sz="1800" i="1">
                              <a:solidFill>
                                <a:srgbClr val="000000"/>
                              </a:solidFill>
                              <a:effectLst/>
                              <a:latin typeface="Cambria Math" panose="02040503050406030204" pitchFamily="18" charset="0"/>
                              <a:ea typeface="Calibri" panose="020F0502020204030204" pitchFamily="34" charset="0"/>
                            </a:rPr>
                            <m:t>𝑈</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e>
                      </m:d>
                      <m:r>
                        <a:rPr lang="en-CA" sz="1800" i="1">
                          <a:solidFill>
                            <a:srgbClr val="000000"/>
                          </a:solidFill>
                          <a:effectLst/>
                          <a:latin typeface="Cambria Math" panose="02040503050406030204" pitchFamily="18" charset="0"/>
                          <a:ea typeface="Calibri" panose="020F0502020204030204" pitchFamily="34" charset="0"/>
                        </a:rPr>
                        <m:t>=</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𝑐</m:t>
                          </m:r>
                        </m:e>
                        <m:sub>
                          <m:r>
                            <a:rPr lang="en-CA" sz="1800" i="1">
                              <a:solidFill>
                                <a:srgbClr val="000000"/>
                              </a:solidFill>
                              <a:effectLst/>
                              <a:latin typeface="Cambria Math" panose="02040503050406030204" pitchFamily="18" charset="0"/>
                              <a:ea typeface="Calibri" panose="020F0502020204030204" pitchFamily="34" charset="0"/>
                            </a:rPr>
                            <m:t>𝑏</m:t>
                          </m:r>
                          <m:r>
                            <a:rPr lang="en-CA" sz="1800" i="1">
                              <a:solidFill>
                                <a:srgbClr val="000000"/>
                              </a:solidFill>
                              <a:effectLst/>
                              <a:latin typeface="Cambria Math" panose="02040503050406030204" pitchFamily="18" charset="0"/>
                              <a:ea typeface="Calibri" panose="020F0502020204030204" pitchFamily="34" charset="0"/>
                            </a:rPr>
                            <m:t>1</m:t>
                          </m:r>
                        </m:sub>
                      </m:sSub>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𝑆</m:t>
                          </m:r>
                        </m:e>
                      </m:acc>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r>
                        <a:rPr lang="en-CA" sz="1800" i="1">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r>
                            <a:rPr lang="en-CA" sz="1800" i="1">
                              <a:solidFill>
                                <a:srgbClr val="000000"/>
                              </a:solidFill>
                              <a:effectLst/>
                              <a:latin typeface="Cambria Math" panose="02040503050406030204" pitchFamily="18" charset="0"/>
                              <a:ea typeface="Calibri" panose="020F0502020204030204" pitchFamily="34" charset="0"/>
                            </a:rPr>
                            <m:t>1</m:t>
                          </m:r>
                        </m:num>
                        <m:den>
                          <m:r>
                            <a:rPr lang="en-CA" sz="1800" i="1">
                              <a:solidFill>
                                <a:srgbClr val="000000"/>
                              </a:solidFill>
                              <a:effectLst/>
                              <a:latin typeface="Cambria Math" panose="02040503050406030204" pitchFamily="18" charset="0"/>
                              <a:ea typeface="Calibri" panose="020F0502020204030204" pitchFamily="34" charset="0"/>
                            </a:rPr>
                            <m:t>𝜎</m:t>
                          </m:r>
                        </m:den>
                      </m:f>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m:t>
                      </m:r>
                      <m:d>
                        <m:dPr>
                          <m:ctrlPr>
                            <a:rPr lang="en-CA" sz="1800" i="1">
                              <a:solidFill>
                                <a:srgbClr val="000000"/>
                              </a:solidFill>
                              <a:effectLst/>
                              <a:latin typeface="Cambria Math" panose="02040503050406030204" pitchFamily="18" charset="0"/>
                              <a:ea typeface="Calibri" panose="020F0502020204030204" pitchFamily="34" charset="0"/>
                            </a:rPr>
                          </m:ctrlPr>
                        </m:dPr>
                        <m:e>
                          <m:d>
                            <m:dPr>
                              <m:ctrlPr>
                                <a:rPr lang="en-CA" sz="1800" i="1">
                                  <a:solidFill>
                                    <a:srgbClr val="000000"/>
                                  </a:solidFill>
                                  <a:effectLst/>
                                  <a:latin typeface="Cambria Math" panose="02040503050406030204" pitchFamily="18" charset="0"/>
                                  <a:ea typeface="Calibri" panose="020F0502020204030204" pitchFamily="34" charset="0"/>
                                </a:rPr>
                              </m:ctrlPr>
                            </m:dPr>
                            <m:e>
                              <m:r>
                                <a:rPr lang="en-CA" sz="1800" i="1">
                                  <a:solidFill>
                                    <a:srgbClr val="000000"/>
                                  </a:solidFill>
                                  <a:effectLst/>
                                  <a:latin typeface="Cambria Math" panose="02040503050406030204" pitchFamily="18" charset="0"/>
                                  <a:ea typeface="Calibri" panose="020F0502020204030204" pitchFamily="34" charset="0"/>
                                </a:rPr>
                                <m:t>𝜈</m:t>
                              </m:r>
                              <m:r>
                                <a:rPr lang="en-CA" sz="1800" i="1">
                                  <a:solidFill>
                                    <a:srgbClr val="000000"/>
                                  </a:solidFill>
                                  <a:effectLst/>
                                  <a:latin typeface="Cambria Math" panose="02040503050406030204" pitchFamily="18" charset="0"/>
                                  <a:ea typeface="Calibri" panose="020F0502020204030204" pitchFamily="34" charset="0"/>
                                </a:rPr>
                                <m:t>+</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e>
                          </m:d>
                          <m:r>
                            <a:rPr lang="en-CA" sz="1800" i="1">
                              <a:solidFill>
                                <a:srgbClr val="000000"/>
                              </a:solidFill>
                              <a:effectLst/>
                              <a:latin typeface="Cambria Math" panose="02040503050406030204" pitchFamily="18" charset="0"/>
                              <a:ea typeface="Calibri" panose="020F0502020204030204" pitchFamily="34" charset="0"/>
                            </a:rPr>
                            <m:t>𝛻</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r>
                            <a:rPr lang="en-CA" sz="1800" i="1">
                              <a:solidFill>
                                <a:srgbClr val="000000"/>
                              </a:solidFill>
                              <a:effectLst/>
                              <a:latin typeface="Cambria Math" panose="02040503050406030204" pitchFamily="18" charset="0"/>
                              <a:ea typeface="Calibri" panose="020F0502020204030204" pitchFamily="34" charset="0"/>
                            </a:rPr>
                            <m:t>+</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𝑐</m:t>
                              </m:r>
                            </m:e>
                            <m:sub>
                              <m:r>
                                <a:rPr lang="en-CA" sz="1800" i="1">
                                  <a:solidFill>
                                    <a:srgbClr val="000000"/>
                                  </a:solidFill>
                                  <a:effectLst/>
                                  <a:latin typeface="Cambria Math" panose="02040503050406030204" pitchFamily="18" charset="0"/>
                                  <a:ea typeface="Calibri" panose="020F0502020204030204" pitchFamily="34" charset="0"/>
                                </a:rPr>
                                <m:t>𝑏</m:t>
                              </m:r>
                              <m:r>
                                <a:rPr lang="en-CA" sz="1800" i="1">
                                  <a:solidFill>
                                    <a:srgbClr val="000000"/>
                                  </a:solidFill>
                                  <a:effectLst/>
                                  <a:latin typeface="Cambria Math" panose="02040503050406030204" pitchFamily="18" charset="0"/>
                                  <a:ea typeface="Calibri" panose="020F0502020204030204" pitchFamily="34" charset="0"/>
                                </a:rPr>
                                <m:t>2</m:t>
                              </m:r>
                            </m:sub>
                          </m:sSub>
                          <m:sSup>
                            <m:sSupPr>
                              <m:ctrlPr>
                                <a:rPr lang="en-CA" sz="1800" i="1">
                                  <a:solidFill>
                                    <a:srgbClr val="000000"/>
                                  </a:solidFill>
                                  <a:effectLst/>
                                  <a:latin typeface="Cambria Math" panose="02040503050406030204" pitchFamily="18" charset="0"/>
                                  <a:ea typeface="Calibri" panose="020F0502020204030204" pitchFamily="34" charset="0"/>
                                </a:rPr>
                              </m:ctrlPr>
                            </m:sSupPr>
                            <m:e>
                              <m:d>
                                <m:dPr>
                                  <m:ctrlPr>
                                    <a:rPr lang="en-CA" sz="1800" i="1">
                                      <a:solidFill>
                                        <a:srgbClr val="000000"/>
                                      </a:solidFill>
                                      <a:effectLst/>
                                      <a:latin typeface="Cambria Math" panose="02040503050406030204" pitchFamily="18" charset="0"/>
                                      <a:ea typeface="Calibri" panose="020F0502020204030204" pitchFamily="34" charset="0"/>
                                    </a:rPr>
                                  </m:ctrlPr>
                                </m:dPr>
                                <m:e>
                                  <m:r>
                                    <a:rPr lang="en-CA" sz="1800" i="1">
                                      <a:solidFill>
                                        <a:srgbClr val="000000"/>
                                      </a:solidFill>
                                      <a:effectLst/>
                                      <a:latin typeface="Cambria Math" panose="02040503050406030204" pitchFamily="18" charset="0"/>
                                      <a:ea typeface="Calibri" panose="020F0502020204030204" pitchFamily="34" charset="0"/>
                                    </a:rPr>
                                    <m:t>𝛻</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e>
                              </m:d>
                            </m:e>
                            <m:sup>
                              <m:r>
                                <a:rPr lang="en-CA" sz="1800" i="1">
                                  <a:solidFill>
                                    <a:srgbClr val="000000"/>
                                  </a:solidFill>
                                  <a:effectLst/>
                                  <a:latin typeface="Cambria Math" panose="02040503050406030204" pitchFamily="18" charset="0"/>
                                  <a:ea typeface="Calibri" panose="020F0502020204030204" pitchFamily="34" charset="0"/>
                                </a:rPr>
                                <m:t>2</m:t>
                              </m:r>
                            </m:sup>
                          </m:sSup>
                        </m:e>
                      </m:d>
                      <m:r>
                        <a:rPr lang="en-CA" sz="1800" i="1">
                          <a:solidFill>
                            <a:srgbClr val="000000"/>
                          </a:solidFill>
                          <a:effectLst/>
                          <a:latin typeface="Cambria Math" panose="02040503050406030204" pitchFamily="18" charset="0"/>
                          <a:ea typeface="Calibri" panose="020F0502020204030204" pitchFamily="34" charset="0"/>
                        </a:rPr>
                        <m:t>−</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𝑐</m:t>
                          </m:r>
                        </m:e>
                        <m:sub>
                          <m:r>
                            <a:rPr lang="en-CA" sz="1800" i="1">
                              <a:solidFill>
                                <a:srgbClr val="000000"/>
                              </a:solidFill>
                              <a:effectLst/>
                              <a:latin typeface="Cambria Math" panose="02040503050406030204" pitchFamily="18" charset="0"/>
                              <a:ea typeface="Calibri" panose="020F0502020204030204" pitchFamily="34" charset="0"/>
                            </a:rPr>
                            <m:t>𝑤</m:t>
                          </m:r>
                          <m:r>
                            <a:rPr lang="en-CA" sz="1800" i="1">
                              <a:solidFill>
                                <a:srgbClr val="000000"/>
                              </a:solidFill>
                              <a:effectLst/>
                              <a:latin typeface="Cambria Math" panose="02040503050406030204" pitchFamily="18" charset="0"/>
                              <a:ea typeface="Calibri" panose="020F0502020204030204" pitchFamily="34" charset="0"/>
                            </a:rPr>
                            <m:t>1</m:t>
                          </m:r>
                        </m:sub>
                      </m:sSub>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𝑓</m:t>
                          </m:r>
                        </m:e>
                        <m:sub>
                          <m:r>
                            <a:rPr lang="en-CA" sz="1800" i="1">
                              <a:solidFill>
                                <a:srgbClr val="000000"/>
                              </a:solidFill>
                              <a:effectLst/>
                              <a:latin typeface="Cambria Math" panose="02040503050406030204" pitchFamily="18" charset="0"/>
                              <a:ea typeface="Calibri" panose="020F0502020204030204" pitchFamily="34" charset="0"/>
                            </a:rPr>
                            <m:t>𝑤</m:t>
                          </m:r>
                        </m:sub>
                      </m:sSub>
                      <m:sSup>
                        <m:sSupPr>
                          <m:ctrlPr>
                            <a:rPr lang="en-CA" sz="1800" i="1">
                              <a:solidFill>
                                <a:srgbClr val="000000"/>
                              </a:solidFill>
                              <a:effectLst/>
                              <a:latin typeface="Cambria Math" panose="02040503050406030204" pitchFamily="18" charset="0"/>
                              <a:ea typeface="Calibri" panose="020F0502020204030204" pitchFamily="34" charset="0"/>
                            </a:rPr>
                          </m:ctrlPr>
                        </m:sSupPr>
                        <m:e>
                          <m:d>
                            <m:dPr>
                              <m:ctrlPr>
                                <a:rPr lang="en-CA" sz="1800" i="1">
                                  <a:solidFill>
                                    <a:srgbClr val="000000"/>
                                  </a:solidFill>
                                  <a:effectLst/>
                                  <a:latin typeface="Cambria Math" panose="02040503050406030204" pitchFamily="18" charset="0"/>
                                  <a:ea typeface="Calibri" panose="020F0502020204030204" pitchFamily="34" charset="0"/>
                                </a:rPr>
                              </m:ctrlPr>
                            </m:dPr>
                            <m:e>
                              <m:f>
                                <m:fPr>
                                  <m:ctrlPr>
                                    <a:rPr lang="en-CA" sz="1800" i="1">
                                      <a:solidFill>
                                        <a:srgbClr val="000000"/>
                                      </a:solidFill>
                                      <a:effectLst/>
                                      <a:latin typeface="Cambria Math" panose="02040503050406030204" pitchFamily="18" charset="0"/>
                                      <a:ea typeface="Calibri" panose="020F0502020204030204" pitchFamily="34" charset="0"/>
                                    </a:rPr>
                                  </m:ctrlPr>
                                </m:fPr>
                                <m:num>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num>
                                <m:den>
                                  <m:r>
                                    <a:rPr lang="en-CA" sz="1800" i="1">
                                      <a:solidFill>
                                        <a:srgbClr val="000000"/>
                                      </a:solidFill>
                                      <a:effectLst/>
                                      <a:latin typeface="Cambria Math" panose="02040503050406030204" pitchFamily="18" charset="0"/>
                                      <a:ea typeface="Calibri" panose="020F0502020204030204" pitchFamily="34" charset="0"/>
                                    </a:rPr>
                                    <m:t>𝑑</m:t>
                                  </m:r>
                                </m:den>
                              </m:f>
                            </m:e>
                          </m:d>
                        </m:e>
                        <m:sup>
                          <m:r>
                            <a:rPr lang="en-CA" sz="1800" i="1">
                              <a:solidFill>
                                <a:srgbClr val="000000"/>
                              </a:solidFill>
                              <a:effectLst/>
                              <a:latin typeface="Cambria Math" panose="02040503050406030204" pitchFamily="18" charset="0"/>
                              <a:ea typeface="Calibri" panose="020F0502020204030204" pitchFamily="34" charset="0"/>
                            </a:rPr>
                            <m:t>2</m:t>
                          </m:r>
                        </m:sup>
                      </m:sSup>
                    </m:oMath>
                  </m:oMathPara>
                </a14:m>
                <a:endParaRPr lang="en-CA" sz="1800" dirty="0">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endParaRPr lang="en-CA" dirty="0"/>
              </a:p>
            </p:txBody>
          </p:sp>
        </mc:Choice>
        <mc:Fallback>
          <p:sp>
            <p:nvSpPr>
              <p:cNvPr id="2" name="Text Placeholder 1">
                <a:extLst>
                  <a:ext uri="{FF2B5EF4-FFF2-40B4-BE49-F238E27FC236}">
                    <a16:creationId xmlns:a16="http://schemas.microsoft.com/office/drawing/2014/main" id="{60555238-65C8-3216-7792-1F3DBB263FF9}"/>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432" t="-339"/>
                </a:stretch>
              </a:blipFill>
            </p:spPr>
            <p:txBody>
              <a:bodyPr/>
              <a:lstStyle/>
              <a:p>
                <a:r>
                  <a:rPr lang="en-CA">
                    <a:noFill/>
                  </a:rPr>
                  <a:t> </a:t>
                </a:r>
              </a:p>
            </p:txBody>
          </p:sp>
        </mc:Fallback>
      </mc:AlternateContent>
      <p:sp>
        <p:nvSpPr>
          <p:cNvPr id="3" name="Title 2">
            <a:extLst>
              <a:ext uri="{FF2B5EF4-FFF2-40B4-BE49-F238E27FC236}">
                <a16:creationId xmlns:a16="http://schemas.microsoft.com/office/drawing/2014/main" id="{A8F9D66A-2638-CED9-A285-22BCB71C5989}"/>
              </a:ext>
            </a:extLst>
          </p:cNvPr>
          <p:cNvSpPr>
            <a:spLocks noGrp="1"/>
          </p:cNvSpPr>
          <p:nvPr>
            <p:ph type="title"/>
          </p:nvPr>
        </p:nvSpPr>
        <p:spPr/>
        <p:txBody>
          <a:bodyPr/>
          <a:lstStyle/>
          <a:p>
            <a:r>
              <a:rPr lang="en-US" dirty="0"/>
              <a:t>Modified Turbulent Viscosity</a:t>
            </a:r>
            <a:endParaRPr lang="en-CA" dirty="0"/>
          </a:p>
        </p:txBody>
      </p:sp>
      <p:sp>
        <p:nvSpPr>
          <p:cNvPr id="4" name="Left Brace 3">
            <a:extLst>
              <a:ext uri="{FF2B5EF4-FFF2-40B4-BE49-F238E27FC236}">
                <a16:creationId xmlns:a16="http://schemas.microsoft.com/office/drawing/2014/main" id="{CDB7C65D-2F74-B76D-33AB-49159BEA00DD}"/>
              </a:ext>
            </a:extLst>
          </p:cNvPr>
          <p:cNvSpPr/>
          <p:nvPr/>
        </p:nvSpPr>
        <p:spPr>
          <a:xfrm rot="16200000">
            <a:off x="1391944" y="1760996"/>
            <a:ext cx="239436" cy="165618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5" name="TextBox 4">
            <a:extLst>
              <a:ext uri="{FF2B5EF4-FFF2-40B4-BE49-F238E27FC236}">
                <a16:creationId xmlns:a16="http://schemas.microsoft.com/office/drawing/2014/main" id="{A62D3790-2B54-C594-53CC-044C15362A5F}"/>
              </a:ext>
            </a:extLst>
          </p:cNvPr>
          <p:cNvSpPr txBox="1"/>
          <p:nvPr/>
        </p:nvSpPr>
        <p:spPr>
          <a:xfrm>
            <a:off x="561262" y="2708805"/>
            <a:ext cx="1900799" cy="338554"/>
          </a:xfrm>
          <a:prstGeom prst="rect">
            <a:avLst/>
          </a:prstGeom>
          <a:noFill/>
        </p:spPr>
        <p:txBody>
          <a:bodyPr wrap="square" rtlCol="0">
            <a:spAutoFit/>
          </a:bodyPr>
          <a:lstStyle/>
          <a:p>
            <a:r>
              <a:rPr lang="en-US" sz="1600" dirty="0"/>
              <a:t>Convective Term</a:t>
            </a:r>
            <a:endParaRPr lang="en-CA" sz="1600" dirty="0"/>
          </a:p>
        </p:txBody>
      </p:sp>
      <p:sp>
        <p:nvSpPr>
          <p:cNvPr id="7" name="Left Brace 6">
            <a:extLst>
              <a:ext uri="{FF2B5EF4-FFF2-40B4-BE49-F238E27FC236}">
                <a16:creationId xmlns:a16="http://schemas.microsoft.com/office/drawing/2014/main" id="{101C1126-950A-AB56-ADA3-DC3DC4EDC432}"/>
              </a:ext>
            </a:extLst>
          </p:cNvPr>
          <p:cNvSpPr/>
          <p:nvPr/>
        </p:nvSpPr>
        <p:spPr>
          <a:xfrm rot="16200000">
            <a:off x="2559007" y="2402516"/>
            <a:ext cx="577990" cy="71169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8" name="TextBox 7">
            <a:extLst>
              <a:ext uri="{FF2B5EF4-FFF2-40B4-BE49-F238E27FC236}">
                <a16:creationId xmlns:a16="http://schemas.microsoft.com/office/drawing/2014/main" id="{E849A2DA-18EC-0549-70B8-29E5DBBD0D6D}"/>
              </a:ext>
            </a:extLst>
          </p:cNvPr>
          <p:cNvSpPr txBox="1"/>
          <p:nvPr/>
        </p:nvSpPr>
        <p:spPr>
          <a:xfrm>
            <a:off x="2142594" y="3029161"/>
            <a:ext cx="1410816" cy="1569660"/>
          </a:xfrm>
          <a:prstGeom prst="rect">
            <a:avLst/>
          </a:prstGeom>
          <a:noFill/>
        </p:spPr>
        <p:txBody>
          <a:bodyPr wrap="square" rtlCol="0">
            <a:spAutoFit/>
          </a:bodyPr>
          <a:lstStyle/>
          <a:p>
            <a:r>
              <a:rPr lang="en-US" sz="1600" dirty="0"/>
              <a:t>Turbulence Produced by Shear (S represents the shear rate tensor)</a:t>
            </a:r>
            <a:endParaRPr lang="en-CA" sz="1600" dirty="0"/>
          </a:p>
        </p:txBody>
      </p:sp>
      <p:sp>
        <p:nvSpPr>
          <p:cNvPr id="10" name="TextBox 9">
            <a:extLst>
              <a:ext uri="{FF2B5EF4-FFF2-40B4-BE49-F238E27FC236}">
                <a16:creationId xmlns:a16="http://schemas.microsoft.com/office/drawing/2014/main" id="{1E3ABFBB-0187-611E-94F8-79E8573F1938}"/>
              </a:ext>
            </a:extLst>
          </p:cNvPr>
          <p:cNvSpPr txBox="1"/>
          <p:nvPr/>
        </p:nvSpPr>
        <p:spPr>
          <a:xfrm>
            <a:off x="3887926" y="3029161"/>
            <a:ext cx="1410815" cy="584775"/>
          </a:xfrm>
          <a:prstGeom prst="rect">
            <a:avLst/>
          </a:prstGeom>
          <a:noFill/>
        </p:spPr>
        <p:txBody>
          <a:bodyPr wrap="square" rtlCol="0">
            <a:spAutoFit/>
          </a:bodyPr>
          <a:lstStyle/>
          <a:p>
            <a:r>
              <a:rPr lang="en-US" sz="1600" dirty="0"/>
              <a:t>Diffusion Term</a:t>
            </a:r>
            <a:endParaRPr lang="en-CA" sz="1600" dirty="0"/>
          </a:p>
        </p:txBody>
      </p:sp>
      <p:sp>
        <p:nvSpPr>
          <p:cNvPr id="11" name="Left Brace 10">
            <a:extLst>
              <a:ext uri="{FF2B5EF4-FFF2-40B4-BE49-F238E27FC236}">
                <a16:creationId xmlns:a16="http://schemas.microsoft.com/office/drawing/2014/main" id="{DA02587E-BF71-539E-B8C2-B466F28F10A2}"/>
              </a:ext>
            </a:extLst>
          </p:cNvPr>
          <p:cNvSpPr/>
          <p:nvPr/>
        </p:nvSpPr>
        <p:spPr>
          <a:xfrm rot="16200000">
            <a:off x="5535340" y="2168772"/>
            <a:ext cx="392249" cy="993440"/>
          </a:xfrm>
          <a:prstGeom prst="leftBrace">
            <a:avLst>
              <a:gd name="adj1" fmla="val 8333"/>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12" name="TextBox 11">
            <a:extLst>
              <a:ext uri="{FF2B5EF4-FFF2-40B4-BE49-F238E27FC236}">
                <a16:creationId xmlns:a16="http://schemas.microsoft.com/office/drawing/2014/main" id="{7606F857-D0A1-1F63-E02E-56A12FBD8E45}"/>
              </a:ext>
            </a:extLst>
          </p:cNvPr>
          <p:cNvSpPr txBox="1"/>
          <p:nvPr/>
        </p:nvSpPr>
        <p:spPr>
          <a:xfrm>
            <a:off x="4932846" y="2903324"/>
            <a:ext cx="1672950" cy="2554545"/>
          </a:xfrm>
          <a:prstGeom prst="rect">
            <a:avLst/>
          </a:prstGeom>
          <a:noFill/>
        </p:spPr>
        <p:txBody>
          <a:bodyPr wrap="square" rtlCol="0">
            <a:spAutoFit/>
          </a:bodyPr>
          <a:lstStyle/>
          <a:p>
            <a:r>
              <a:rPr lang="en-US" sz="1600" dirty="0"/>
              <a:t>This non-linear term was added by the authors to control the “spreading” of the turbulent viscosity, resulting in a more accurate wake profile.</a:t>
            </a:r>
            <a:endParaRPr lang="en-CA" sz="1600" dirty="0"/>
          </a:p>
        </p:txBody>
      </p:sp>
      <p:sp>
        <p:nvSpPr>
          <p:cNvPr id="13" name="Left Brace 12">
            <a:extLst>
              <a:ext uri="{FF2B5EF4-FFF2-40B4-BE49-F238E27FC236}">
                <a16:creationId xmlns:a16="http://schemas.microsoft.com/office/drawing/2014/main" id="{19225262-7CE5-EA05-96D5-0276594C77E7}"/>
              </a:ext>
            </a:extLst>
          </p:cNvPr>
          <p:cNvSpPr/>
          <p:nvPr/>
        </p:nvSpPr>
        <p:spPr>
          <a:xfrm rot="16200000">
            <a:off x="4081652" y="1999612"/>
            <a:ext cx="577990" cy="1481107"/>
          </a:xfrm>
          <a:prstGeom prst="leftBrace">
            <a:avLst>
              <a:gd name="adj1" fmla="val 8333"/>
              <a:gd name="adj2" fmla="val 5156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14" name="Left Brace 13">
            <a:extLst>
              <a:ext uri="{FF2B5EF4-FFF2-40B4-BE49-F238E27FC236}">
                <a16:creationId xmlns:a16="http://schemas.microsoft.com/office/drawing/2014/main" id="{B2CC2AA5-2192-FB40-C4F9-247BE4D7A8B0}"/>
              </a:ext>
            </a:extLst>
          </p:cNvPr>
          <p:cNvSpPr/>
          <p:nvPr/>
        </p:nvSpPr>
        <p:spPr>
          <a:xfrm rot="16200000">
            <a:off x="7041992" y="2001042"/>
            <a:ext cx="392249" cy="1292505"/>
          </a:xfrm>
          <a:prstGeom prst="leftBrace">
            <a:avLst>
              <a:gd name="adj1" fmla="val 8333"/>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15" name="TextBox 14">
            <a:extLst>
              <a:ext uri="{FF2B5EF4-FFF2-40B4-BE49-F238E27FC236}">
                <a16:creationId xmlns:a16="http://schemas.microsoft.com/office/drawing/2014/main" id="{B22892C6-CAF0-30F5-86C2-3F128A73F72A}"/>
              </a:ext>
            </a:extLst>
          </p:cNvPr>
          <p:cNvSpPr txBox="1"/>
          <p:nvPr/>
        </p:nvSpPr>
        <p:spPr>
          <a:xfrm>
            <a:off x="6445108" y="2861617"/>
            <a:ext cx="1691489" cy="338554"/>
          </a:xfrm>
          <a:prstGeom prst="rect">
            <a:avLst/>
          </a:prstGeom>
          <a:noFill/>
        </p:spPr>
        <p:txBody>
          <a:bodyPr wrap="none" rtlCol="0">
            <a:spAutoFit/>
          </a:bodyPr>
          <a:lstStyle/>
          <a:p>
            <a:r>
              <a:rPr lang="en-US" sz="1600" dirty="0"/>
              <a:t>Destruction term</a:t>
            </a:r>
            <a:endParaRPr lang="en-CA" sz="1600" dirty="0"/>
          </a:p>
        </p:txBody>
      </p:sp>
    </p:spTree>
    <p:extLst>
      <p:ext uri="{BB962C8B-B14F-4D97-AF65-F5344CB8AC3E}">
        <p14:creationId xmlns:p14="http://schemas.microsoft.com/office/powerpoint/2010/main" val="3120449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F79EE9B6-C9E6-7D32-E3A7-B2C4C02F5C52}"/>
                  </a:ext>
                </a:extLst>
              </p:cNvPr>
              <p:cNvSpPr>
                <a:spLocks noGrp="1"/>
              </p:cNvSpPr>
              <p:nvPr>
                <p:ph type="body" sz="quarter" idx="13"/>
              </p:nvPr>
            </p:nvSpPr>
            <p:spPr/>
            <p:txBody>
              <a:bodyPr/>
              <a:lstStyle/>
              <a:p>
                <a:pPr marL="285750" indent="-285750">
                  <a:buFont typeface="Arial" panose="020B0604020202020204" pitchFamily="34" charset="0"/>
                  <a:buChar char="•"/>
                </a:pPr>
                <a:r>
                  <a:rPr lang="en-US" sz="1600" dirty="0"/>
                  <a:t>Once the equation on the previous slide has been solved, the following equations can be used to determine the real turbulent viscosity, which can then be plugged into the momentum equation</a:t>
                </a:r>
              </a:p>
              <a:p>
                <a14:m>
                  <m:oMathPara xmlns:m="http://schemas.openxmlformats.org/officeDocument/2006/math">
                    <m:oMathParaPr>
                      <m:jc m:val="centerGroup"/>
                    </m:oMathParaPr>
                    <m:oMath xmlns:m="http://schemas.openxmlformats.org/officeDocument/2006/math">
                      <m:r>
                        <a:rPr lang="en-CA" sz="1800" i="1" smtClean="0">
                          <a:solidFill>
                            <a:srgbClr val="000000"/>
                          </a:solidFill>
                          <a:effectLst/>
                          <a:latin typeface="Cambria Math" panose="02040503050406030204" pitchFamily="18" charset="0"/>
                          <a:ea typeface="Calibri" panose="020F0502020204030204" pitchFamily="34" charset="0"/>
                        </a:rPr>
                        <m:t>𝜒</m:t>
                      </m:r>
                      <m:r>
                        <a:rPr lang="en-CA" sz="1800" i="1" smtClean="0">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num>
                        <m:den>
                          <m:r>
                            <a:rPr lang="en-CA" sz="1800" i="1">
                              <a:solidFill>
                                <a:srgbClr val="000000"/>
                              </a:solidFill>
                              <a:effectLst/>
                              <a:latin typeface="Cambria Math" panose="02040503050406030204" pitchFamily="18" charset="0"/>
                              <a:ea typeface="Calibri" panose="020F0502020204030204" pitchFamily="34" charset="0"/>
                            </a:rPr>
                            <m:t>𝜈</m:t>
                          </m:r>
                        </m:den>
                      </m:f>
                    </m:oMath>
                  </m:oMathPara>
                </a14:m>
                <a:endParaRPr lang="en-US" sz="1800" dirty="0">
                  <a:solidFill>
                    <a:srgbClr val="000000"/>
                  </a:solidFill>
                  <a:effectLst/>
                  <a:latin typeface="Times New Roman" panose="02020603050405020304" pitchFamily="18" charset="0"/>
                  <a:ea typeface="Calibri" panose="020F0502020204030204" pitchFamily="34" charset="0"/>
                </a:endParaRPr>
              </a:p>
              <a:p>
                <a:endParaRPr lang="en-CA" sz="1800" dirty="0">
                  <a:effectLst/>
                  <a:latin typeface="Times New Roman" panose="02020603050405020304" pitchFamily="18" charset="0"/>
                  <a:ea typeface="Calibri" panose="020F0502020204030204" pitchFamily="34" charset="0"/>
                </a:endParaRPr>
              </a:p>
              <a:p>
                <a14:m>
                  <m:oMathPara xmlns:m="http://schemas.openxmlformats.org/officeDocument/2006/math">
                    <m:oMathParaPr>
                      <m:jc m:val="centerGroup"/>
                    </m:oMathParaPr>
                    <m:oMath xmlns:m="http://schemas.openxmlformats.org/officeDocument/2006/math">
                      <m:sSub>
                        <m:sSubPr>
                          <m:ctrlPr>
                            <a:rPr lang="en-CA" sz="1800" i="1" smtClean="0">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𝑓</m:t>
                          </m:r>
                        </m:e>
                        <m:sub>
                          <m:r>
                            <a:rPr lang="en-CA" sz="1800" i="1">
                              <a:solidFill>
                                <a:srgbClr val="000000"/>
                              </a:solidFill>
                              <a:effectLst/>
                              <a:latin typeface="Cambria Math" panose="02040503050406030204" pitchFamily="18" charset="0"/>
                              <a:ea typeface="Calibri" panose="020F0502020204030204" pitchFamily="34" charset="0"/>
                            </a:rPr>
                            <m:t>𝑣</m:t>
                          </m:r>
                          <m:r>
                            <a:rPr lang="en-CA" sz="1800" i="1">
                              <a:solidFill>
                                <a:srgbClr val="000000"/>
                              </a:solidFill>
                              <a:effectLst/>
                              <a:latin typeface="Cambria Math" panose="02040503050406030204" pitchFamily="18" charset="0"/>
                              <a:ea typeface="Calibri" panose="020F0502020204030204" pitchFamily="34" charset="0"/>
                            </a:rPr>
                            <m:t>1</m:t>
                          </m:r>
                        </m:sub>
                      </m:sSub>
                      <m:r>
                        <a:rPr lang="en-CA" sz="1800" i="1">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sSup>
                            <m:sSupPr>
                              <m:ctrlPr>
                                <a:rPr lang="en-CA" sz="1800" i="1">
                                  <a:solidFill>
                                    <a:srgbClr val="000000"/>
                                  </a:solidFill>
                                  <a:effectLst/>
                                  <a:latin typeface="Cambria Math" panose="02040503050406030204" pitchFamily="18" charset="0"/>
                                  <a:ea typeface="Calibri" panose="020F0502020204030204" pitchFamily="34" charset="0"/>
                                </a:rPr>
                              </m:ctrlPr>
                            </m:sSupPr>
                            <m:e>
                              <m:r>
                                <a:rPr lang="en-CA" sz="1800" i="1">
                                  <a:solidFill>
                                    <a:srgbClr val="000000"/>
                                  </a:solidFill>
                                  <a:effectLst/>
                                  <a:latin typeface="Cambria Math" panose="02040503050406030204" pitchFamily="18" charset="0"/>
                                  <a:ea typeface="Calibri" panose="020F0502020204030204" pitchFamily="34" charset="0"/>
                                </a:rPr>
                                <m:t>𝜒</m:t>
                              </m:r>
                            </m:e>
                            <m:sup>
                              <m:r>
                                <a:rPr lang="en-CA" sz="1800" i="1">
                                  <a:solidFill>
                                    <a:srgbClr val="000000"/>
                                  </a:solidFill>
                                  <a:effectLst/>
                                  <a:latin typeface="Cambria Math" panose="02040503050406030204" pitchFamily="18" charset="0"/>
                                  <a:ea typeface="Calibri" panose="020F0502020204030204" pitchFamily="34" charset="0"/>
                                </a:rPr>
                                <m:t>3</m:t>
                              </m:r>
                            </m:sup>
                          </m:sSup>
                        </m:num>
                        <m:den>
                          <m:sSup>
                            <m:sSupPr>
                              <m:ctrlPr>
                                <a:rPr lang="en-CA" sz="1800" i="1">
                                  <a:solidFill>
                                    <a:srgbClr val="000000"/>
                                  </a:solidFill>
                                  <a:effectLst/>
                                  <a:latin typeface="Cambria Math" panose="02040503050406030204" pitchFamily="18" charset="0"/>
                                  <a:ea typeface="Calibri" panose="020F0502020204030204" pitchFamily="34" charset="0"/>
                                </a:rPr>
                              </m:ctrlPr>
                            </m:sSupPr>
                            <m:e>
                              <m:r>
                                <a:rPr lang="en-CA" sz="1800" i="1">
                                  <a:solidFill>
                                    <a:srgbClr val="000000"/>
                                  </a:solidFill>
                                  <a:effectLst/>
                                  <a:latin typeface="Cambria Math" panose="02040503050406030204" pitchFamily="18" charset="0"/>
                                  <a:ea typeface="Calibri" panose="020F0502020204030204" pitchFamily="34" charset="0"/>
                                </a:rPr>
                                <m:t>𝜒</m:t>
                              </m:r>
                            </m:e>
                            <m:sup>
                              <m:r>
                                <a:rPr lang="en-CA" sz="1800" i="1">
                                  <a:solidFill>
                                    <a:srgbClr val="000000"/>
                                  </a:solidFill>
                                  <a:effectLst/>
                                  <a:latin typeface="Cambria Math" panose="02040503050406030204" pitchFamily="18" charset="0"/>
                                  <a:ea typeface="Calibri" panose="020F0502020204030204" pitchFamily="34" charset="0"/>
                                </a:rPr>
                                <m:t>3</m:t>
                              </m:r>
                            </m:sup>
                          </m:sSup>
                          <m:r>
                            <a:rPr lang="en-CA" sz="1800" i="1">
                              <a:solidFill>
                                <a:srgbClr val="000000"/>
                              </a:solidFill>
                              <a:effectLst/>
                              <a:latin typeface="Cambria Math" panose="02040503050406030204" pitchFamily="18" charset="0"/>
                              <a:ea typeface="Calibri" panose="020F0502020204030204" pitchFamily="34" charset="0"/>
                            </a:rPr>
                            <m:t>+</m:t>
                          </m:r>
                          <m:sSubSup>
                            <m:sSubSupPr>
                              <m:ctrlPr>
                                <a:rPr lang="en-CA" sz="1800" i="1">
                                  <a:solidFill>
                                    <a:srgbClr val="000000"/>
                                  </a:solidFill>
                                  <a:effectLst/>
                                  <a:latin typeface="Cambria Math" panose="02040503050406030204" pitchFamily="18" charset="0"/>
                                  <a:ea typeface="Calibri" panose="020F0502020204030204" pitchFamily="34" charset="0"/>
                                </a:rPr>
                              </m:ctrlPr>
                            </m:sSubSupPr>
                            <m:e>
                              <m:r>
                                <a:rPr lang="en-CA" sz="1800" i="1">
                                  <a:solidFill>
                                    <a:srgbClr val="000000"/>
                                  </a:solidFill>
                                  <a:effectLst/>
                                  <a:latin typeface="Cambria Math" panose="02040503050406030204" pitchFamily="18" charset="0"/>
                                  <a:ea typeface="Calibri" panose="020F0502020204030204" pitchFamily="34" charset="0"/>
                                </a:rPr>
                                <m:t>𝑐</m:t>
                              </m:r>
                            </m:e>
                            <m:sub>
                              <m:r>
                                <a:rPr lang="en-CA" sz="1800" i="1">
                                  <a:solidFill>
                                    <a:srgbClr val="000000"/>
                                  </a:solidFill>
                                  <a:effectLst/>
                                  <a:latin typeface="Cambria Math" panose="02040503050406030204" pitchFamily="18" charset="0"/>
                                  <a:ea typeface="Calibri" panose="020F0502020204030204" pitchFamily="34" charset="0"/>
                                </a:rPr>
                                <m:t>𝑣</m:t>
                              </m:r>
                              <m:r>
                                <a:rPr lang="en-CA" sz="1800" i="1">
                                  <a:solidFill>
                                    <a:srgbClr val="000000"/>
                                  </a:solidFill>
                                  <a:effectLst/>
                                  <a:latin typeface="Cambria Math" panose="02040503050406030204" pitchFamily="18" charset="0"/>
                                  <a:ea typeface="Calibri" panose="020F0502020204030204" pitchFamily="34" charset="0"/>
                                </a:rPr>
                                <m:t>1</m:t>
                              </m:r>
                            </m:sub>
                            <m:sup>
                              <m:r>
                                <a:rPr lang="en-CA" sz="1800" i="1">
                                  <a:solidFill>
                                    <a:srgbClr val="000000"/>
                                  </a:solidFill>
                                  <a:effectLst/>
                                  <a:latin typeface="Cambria Math" panose="02040503050406030204" pitchFamily="18" charset="0"/>
                                  <a:ea typeface="Calibri" panose="020F0502020204030204" pitchFamily="34" charset="0"/>
                                </a:rPr>
                                <m:t>3</m:t>
                              </m:r>
                            </m:sup>
                          </m:sSubSup>
                        </m:den>
                      </m:f>
                    </m:oMath>
                  </m:oMathPara>
                </a14:m>
                <a:endParaRPr lang="en-CA" sz="1800" dirty="0">
                  <a:effectLst/>
                  <a:latin typeface="Times New Roman" panose="02020603050405020304" pitchFamily="18" charset="0"/>
                  <a:ea typeface="Calibri" panose="020F0502020204030204" pitchFamily="34" charset="0"/>
                </a:endParaRPr>
              </a:p>
              <a:p>
                <a:endParaRPr lang="en-CA" sz="1800" dirty="0">
                  <a:effectLst/>
                  <a:latin typeface="Times New Roman" panose="02020603050405020304" pitchFamily="18" charset="0"/>
                  <a:ea typeface="Calibri" panose="020F0502020204030204" pitchFamily="34" charset="0"/>
                </a:endParaRPr>
              </a:p>
              <a:p>
                <a14:m>
                  <m:oMathPara xmlns:m="http://schemas.openxmlformats.org/officeDocument/2006/math">
                    <m:oMathParaPr>
                      <m:jc m:val="centerGroup"/>
                    </m:oMathParaPr>
                    <m:oMath xmlns:m="http://schemas.openxmlformats.org/officeDocument/2006/math">
                      <m:sSub>
                        <m:sSubPr>
                          <m:ctrlPr>
                            <a:rPr lang="en-CA" sz="1800" i="1" smtClean="0">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𝑣</m:t>
                          </m:r>
                        </m:e>
                        <m:sub>
                          <m:r>
                            <a:rPr lang="en-CA" sz="1800" i="1">
                              <a:solidFill>
                                <a:srgbClr val="000000"/>
                              </a:solidFill>
                              <a:effectLst/>
                              <a:latin typeface="Cambria Math" panose="02040503050406030204" pitchFamily="18" charset="0"/>
                              <a:ea typeface="Calibri" panose="020F0502020204030204" pitchFamily="34" charset="0"/>
                            </a:rPr>
                            <m:t>𝑡</m:t>
                          </m:r>
                        </m:sub>
                      </m:sSub>
                      <m:r>
                        <a:rPr lang="en-CA" sz="1800" i="1">
                          <a:solidFill>
                            <a:srgbClr val="000000"/>
                          </a:solidFill>
                          <a:effectLst/>
                          <a:latin typeface="Cambria Math" panose="02040503050406030204" pitchFamily="18" charset="0"/>
                          <a:ea typeface="Calibri" panose="020F0502020204030204" pitchFamily="34" charset="0"/>
                        </a:rPr>
                        <m:t>=</m:t>
                      </m:r>
                      <m:acc>
                        <m:accPr>
                          <m:chr m:val="̃"/>
                          <m:ctrlPr>
                            <a:rPr lang="en-CA" sz="1800" i="1">
                              <a:solidFill>
                                <a:srgbClr val="000000"/>
                              </a:solidFill>
                              <a:effectLst/>
                              <a:latin typeface="Cambria Math" panose="02040503050406030204" pitchFamily="18" charset="0"/>
                              <a:ea typeface="Calibri" panose="020F0502020204030204" pitchFamily="34" charset="0"/>
                            </a:rPr>
                          </m:ctrlPr>
                        </m:accPr>
                        <m:e>
                          <m:r>
                            <a:rPr lang="en-CA" sz="1800" i="1">
                              <a:solidFill>
                                <a:srgbClr val="000000"/>
                              </a:solidFill>
                              <a:effectLst/>
                              <a:latin typeface="Cambria Math" panose="02040503050406030204" pitchFamily="18" charset="0"/>
                              <a:ea typeface="Calibri" panose="020F0502020204030204" pitchFamily="34" charset="0"/>
                            </a:rPr>
                            <m:t>𝜈</m:t>
                          </m:r>
                        </m:e>
                      </m:acc>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𝑓</m:t>
                          </m:r>
                        </m:e>
                        <m:sub>
                          <m:r>
                            <a:rPr lang="en-CA" sz="1800" i="1">
                              <a:solidFill>
                                <a:srgbClr val="000000"/>
                              </a:solidFill>
                              <a:effectLst/>
                              <a:latin typeface="Cambria Math" panose="02040503050406030204" pitchFamily="18" charset="0"/>
                              <a:ea typeface="Calibri" panose="020F0502020204030204" pitchFamily="34" charset="0"/>
                            </a:rPr>
                            <m:t>𝑣</m:t>
                          </m:r>
                          <m:r>
                            <a:rPr lang="en-CA" sz="1800" i="1">
                              <a:solidFill>
                                <a:srgbClr val="000000"/>
                              </a:solidFill>
                              <a:effectLst/>
                              <a:latin typeface="Cambria Math" panose="02040503050406030204" pitchFamily="18" charset="0"/>
                              <a:ea typeface="Calibri" panose="020F0502020204030204" pitchFamily="34" charset="0"/>
                            </a:rPr>
                            <m:t>1</m:t>
                          </m:r>
                        </m:sub>
                      </m:sSub>
                      <m:r>
                        <a:rPr lang="en-CA" sz="1800" i="1">
                          <a:solidFill>
                            <a:srgbClr val="000000"/>
                          </a:solidFill>
                          <a:effectLst/>
                          <a:latin typeface="Cambria Math" panose="02040503050406030204" pitchFamily="18" charset="0"/>
                          <a:ea typeface="Calibri" panose="020F0502020204030204" pitchFamily="34" charset="0"/>
                        </a:rPr>
                        <m:t>,  </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𝜇</m:t>
                          </m:r>
                        </m:e>
                        <m:sub>
                          <m:r>
                            <a:rPr lang="en-CA" sz="1800" i="1">
                              <a:solidFill>
                                <a:srgbClr val="000000"/>
                              </a:solidFill>
                              <a:effectLst/>
                              <a:latin typeface="Cambria Math" panose="02040503050406030204" pitchFamily="18" charset="0"/>
                              <a:ea typeface="Calibri" panose="020F0502020204030204" pitchFamily="34" charset="0"/>
                            </a:rPr>
                            <m:t>𝑡</m:t>
                          </m:r>
                        </m:sub>
                      </m:sSub>
                      <m:r>
                        <a:rPr lang="en-CA" sz="1800" i="1">
                          <a:solidFill>
                            <a:srgbClr val="000000"/>
                          </a:solidFill>
                          <a:effectLst/>
                          <a:latin typeface="Cambria Math" panose="02040503050406030204" pitchFamily="18" charset="0"/>
                          <a:ea typeface="Calibri" panose="020F0502020204030204" pitchFamily="34" charset="0"/>
                        </a:rPr>
                        <m:t>=</m:t>
                      </m:r>
                      <m:r>
                        <a:rPr lang="en-CA" sz="1800" i="1">
                          <a:solidFill>
                            <a:srgbClr val="000000"/>
                          </a:solidFill>
                          <a:effectLst/>
                          <a:latin typeface="Cambria Math" panose="02040503050406030204" pitchFamily="18" charset="0"/>
                          <a:ea typeface="Calibri" panose="020F0502020204030204" pitchFamily="34" charset="0"/>
                        </a:rPr>
                        <m:t>𝜌</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𝜈</m:t>
                          </m:r>
                        </m:e>
                        <m:sub>
                          <m:r>
                            <a:rPr lang="en-CA" sz="1800" i="1">
                              <a:solidFill>
                                <a:srgbClr val="000000"/>
                              </a:solidFill>
                              <a:effectLst/>
                              <a:latin typeface="Cambria Math" panose="02040503050406030204" pitchFamily="18" charset="0"/>
                              <a:ea typeface="Calibri" panose="020F0502020204030204" pitchFamily="34" charset="0"/>
                            </a:rPr>
                            <m:t>𝑡</m:t>
                          </m:r>
                        </m:sub>
                      </m:sSub>
                    </m:oMath>
                  </m:oMathPara>
                </a14:m>
                <a:endParaRPr lang="en-CA" sz="1800" dirty="0">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endParaRPr lang="en-CA" sz="1600" dirty="0"/>
              </a:p>
            </p:txBody>
          </p:sp>
        </mc:Choice>
        <mc:Fallback>
          <p:sp>
            <p:nvSpPr>
              <p:cNvPr id="2" name="Text Placeholder 1">
                <a:extLst>
                  <a:ext uri="{FF2B5EF4-FFF2-40B4-BE49-F238E27FC236}">
                    <a16:creationId xmlns:a16="http://schemas.microsoft.com/office/drawing/2014/main" id="{F79EE9B6-C9E6-7D32-E3A7-B2C4C02F5C52}"/>
                  </a:ext>
                </a:extLst>
              </p:cNvPr>
              <p:cNvSpPr>
                <a:spLocks noGrp="1" noRot="1" noChangeAspect="1" noMove="1" noResize="1" noEditPoints="1" noAdjustHandles="1" noChangeArrowheads="1" noChangeShapeType="1" noTextEdit="1"/>
              </p:cNvSpPr>
              <p:nvPr>
                <p:ph type="body" sz="quarter" idx="13"/>
              </p:nvPr>
            </p:nvSpPr>
            <p:spPr>
              <a:blipFill>
                <a:blip r:embed="rId3"/>
                <a:stretch>
                  <a:fillRect l="-1512" t="-452" r="-1352"/>
                </a:stretch>
              </a:blipFill>
            </p:spPr>
            <p:txBody>
              <a:bodyPr/>
              <a:lstStyle/>
              <a:p>
                <a:r>
                  <a:rPr lang="en-CA">
                    <a:noFill/>
                  </a:rPr>
                  <a:t> </a:t>
                </a:r>
              </a:p>
            </p:txBody>
          </p:sp>
        </mc:Fallback>
      </mc:AlternateContent>
      <p:sp>
        <p:nvSpPr>
          <p:cNvPr id="3" name="Title 2">
            <a:extLst>
              <a:ext uri="{FF2B5EF4-FFF2-40B4-BE49-F238E27FC236}">
                <a16:creationId xmlns:a16="http://schemas.microsoft.com/office/drawing/2014/main" id="{4B396D05-7B32-34BA-A755-85570AEF8F82}"/>
              </a:ext>
            </a:extLst>
          </p:cNvPr>
          <p:cNvSpPr>
            <a:spLocks noGrp="1"/>
          </p:cNvSpPr>
          <p:nvPr>
            <p:ph type="title"/>
          </p:nvPr>
        </p:nvSpPr>
        <p:spPr/>
        <p:txBody>
          <a:bodyPr/>
          <a:lstStyle/>
          <a:p>
            <a:r>
              <a:rPr lang="en-US" dirty="0"/>
              <a:t>Solving for real turbulent viscosity</a:t>
            </a:r>
            <a:endParaRPr lang="en-CA" dirty="0"/>
          </a:p>
        </p:txBody>
      </p:sp>
    </p:spTree>
    <p:extLst>
      <p:ext uri="{BB962C8B-B14F-4D97-AF65-F5344CB8AC3E}">
        <p14:creationId xmlns:p14="http://schemas.microsoft.com/office/powerpoint/2010/main" val="292112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laceholder 1">
                <a:extLst>
                  <a:ext uri="{FF2B5EF4-FFF2-40B4-BE49-F238E27FC236}">
                    <a16:creationId xmlns:a16="http://schemas.microsoft.com/office/drawing/2014/main" id="{EA704A0E-FEEB-8B3A-3A57-8C66E546A324}"/>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At the wall, a value for </a:t>
                </a:r>
                <a14:m>
                  <m:oMath xmlns:m="http://schemas.openxmlformats.org/officeDocument/2006/math">
                    <m:acc>
                      <m:accPr>
                        <m:chr m:val="̃"/>
                        <m:ctrlPr>
                          <a:rPr lang="en-CA" sz="1600" i="1" smtClean="0">
                            <a:solidFill>
                              <a:srgbClr val="000000"/>
                            </a:solidFill>
                            <a:effectLst/>
                            <a:latin typeface="Cambria Math" panose="02040503050406030204" pitchFamily="18" charset="0"/>
                            <a:ea typeface="Calibri" panose="020F0502020204030204" pitchFamily="34" charset="0"/>
                          </a:rPr>
                        </m:ctrlPr>
                      </m:accPr>
                      <m:e>
                        <m:r>
                          <a:rPr lang="en-CA" sz="1600" i="1">
                            <a:solidFill>
                              <a:srgbClr val="000000"/>
                            </a:solidFill>
                            <a:effectLst/>
                            <a:latin typeface="Cambria Math" panose="02040503050406030204" pitchFamily="18" charset="0"/>
                            <a:ea typeface="Calibri" panose="020F0502020204030204" pitchFamily="34" charset="0"/>
                          </a:rPr>
                          <m:t>𝜈</m:t>
                        </m:r>
                      </m:e>
                    </m:acc>
                  </m:oMath>
                </a14:m>
                <a:r>
                  <a:rPr lang="en-CA" dirty="0"/>
                  <a:t> of 0 can be imposed. </a:t>
                </a:r>
              </a:p>
              <a:p>
                <a:pPr marL="285750" indent="-285750">
                  <a:buFont typeface="Arial" panose="020B0604020202020204" pitchFamily="34" charset="0"/>
                  <a:buChar char="•"/>
                </a:pPr>
                <a:r>
                  <a:rPr lang="en-CA" dirty="0"/>
                  <a:t>In the freestream, </a:t>
                </a:r>
                <a14:m>
                  <m:oMath xmlns:m="http://schemas.openxmlformats.org/officeDocument/2006/math">
                    <m:acc>
                      <m:accPr>
                        <m:chr m:val="̃"/>
                        <m:ctrlPr>
                          <a:rPr lang="en-CA" sz="1600" i="1" smtClean="0">
                            <a:solidFill>
                              <a:srgbClr val="000000"/>
                            </a:solidFill>
                            <a:effectLst/>
                            <a:latin typeface="Cambria Math" panose="02040503050406030204" pitchFamily="18" charset="0"/>
                            <a:ea typeface="Calibri" panose="020F0502020204030204" pitchFamily="34" charset="0"/>
                          </a:rPr>
                        </m:ctrlPr>
                      </m:accPr>
                      <m:e>
                        <m:r>
                          <a:rPr lang="en-CA" sz="1600" i="1">
                            <a:solidFill>
                              <a:srgbClr val="000000"/>
                            </a:solidFill>
                            <a:effectLst/>
                            <a:latin typeface="Cambria Math" panose="02040503050406030204" pitchFamily="18" charset="0"/>
                            <a:ea typeface="Calibri" panose="020F0502020204030204" pitchFamily="34" charset="0"/>
                          </a:rPr>
                          <m:t>𝜈</m:t>
                        </m:r>
                      </m:e>
                    </m:acc>
                    <m:r>
                      <a:rPr lang="en-US" sz="1600" b="0" i="0" smtClean="0">
                        <a:solidFill>
                          <a:srgbClr val="000000"/>
                        </a:solidFill>
                        <a:effectLst/>
                        <a:latin typeface="Cambria Math" panose="02040503050406030204" pitchFamily="18" charset="0"/>
                        <a:ea typeface="Calibri" panose="020F0502020204030204" pitchFamily="34" charset="0"/>
                      </a:rPr>
                      <m:t>=</m:t>
                    </m:r>
                    <m:sSub>
                      <m:sSubPr>
                        <m:ctrlPr>
                          <a:rPr lang="en-US" sz="1600" b="0" i="1" smtClean="0">
                            <a:solidFill>
                              <a:srgbClr val="000000"/>
                            </a:solidFill>
                            <a:effectLst/>
                            <a:latin typeface="Cambria Math" panose="02040503050406030204" pitchFamily="18" charset="0"/>
                            <a:ea typeface="Calibri" panose="020F0502020204030204" pitchFamily="34" charset="0"/>
                          </a:rPr>
                        </m:ctrlPr>
                      </m:sSubPr>
                      <m:e>
                        <m:r>
                          <m:rPr>
                            <m:sty m:val="p"/>
                          </m:rPr>
                          <a:rPr lang="el-GR" sz="1600" b="0" i="1" smtClean="0">
                            <a:solidFill>
                              <a:srgbClr val="000000"/>
                            </a:solidFill>
                            <a:effectLst/>
                            <a:latin typeface="Cambria Math" panose="02040503050406030204" pitchFamily="18" charset="0"/>
                            <a:ea typeface="Calibri" panose="020F0502020204030204" pitchFamily="34" charset="0"/>
                          </a:rPr>
                          <m:t>ν</m:t>
                        </m:r>
                      </m:e>
                      <m:sub>
                        <m:r>
                          <a:rPr lang="en-US" sz="1600" b="0" i="1" smtClean="0">
                            <a:solidFill>
                              <a:srgbClr val="000000"/>
                            </a:solidFill>
                            <a:effectLst/>
                            <a:latin typeface="Cambria Math" panose="02040503050406030204" pitchFamily="18" charset="0"/>
                            <a:ea typeface="Calibri" panose="020F0502020204030204" pitchFamily="34" charset="0"/>
                          </a:rPr>
                          <m:t>𝑡</m:t>
                        </m:r>
                      </m:sub>
                    </m:sSub>
                  </m:oMath>
                </a14:m>
                <a:r>
                  <a:rPr lang="en-CA" dirty="0"/>
                  <a:t>, so the turbulent viscosity can be calculated using the turbulent kinetic energy, and turbulent dissipation rate.</a:t>
                </a:r>
              </a:p>
              <a:p>
                <a14:m>
                  <m:oMathPara xmlns:m="http://schemas.openxmlformats.org/officeDocument/2006/math">
                    <m:oMathParaPr>
                      <m:jc m:val="centerGroup"/>
                    </m:oMathParaPr>
                    <m:oMath xmlns:m="http://schemas.openxmlformats.org/officeDocument/2006/math">
                      <m:sSub>
                        <m:sSubPr>
                          <m:ctrlPr>
                            <a:rPr lang="en-CA" sz="1800" i="1" smtClean="0">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𝑣</m:t>
                          </m:r>
                        </m:e>
                        <m:sub>
                          <m:r>
                            <a:rPr lang="en-CA" sz="1800" i="1">
                              <a:solidFill>
                                <a:srgbClr val="000000"/>
                              </a:solidFill>
                              <a:effectLst/>
                              <a:latin typeface="Cambria Math" panose="02040503050406030204" pitchFamily="18" charset="0"/>
                              <a:ea typeface="Calibri" panose="020F0502020204030204" pitchFamily="34" charset="0"/>
                            </a:rPr>
                            <m:t>𝑡</m:t>
                          </m:r>
                        </m:sub>
                      </m:sSub>
                      <m:r>
                        <a:rPr lang="en-CA" sz="1800" i="1">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𝐶</m:t>
                              </m:r>
                            </m:e>
                            <m:sub>
                              <m:r>
                                <a:rPr lang="en-CA" sz="1800" i="1">
                                  <a:solidFill>
                                    <a:srgbClr val="000000"/>
                                  </a:solidFill>
                                  <a:effectLst/>
                                  <a:latin typeface="Cambria Math" panose="02040503050406030204" pitchFamily="18" charset="0"/>
                                  <a:ea typeface="Calibri" panose="020F0502020204030204" pitchFamily="34" charset="0"/>
                                </a:rPr>
                                <m:t>𝜇</m:t>
                              </m:r>
                            </m:sub>
                          </m:sSub>
                          <m:sSup>
                            <m:sSupPr>
                              <m:ctrlPr>
                                <a:rPr lang="en-CA" sz="1800" i="1">
                                  <a:solidFill>
                                    <a:srgbClr val="000000"/>
                                  </a:solidFill>
                                  <a:effectLst/>
                                  <a:latin typeface="Cambria Math" panose="02040503050406030204" pitchFamily="18" charset="0"/>
                                  <a:ea typeface="Calibri" panose="020F0502020204030204" pitchFamily="34" charset="0"/>
                                </a:rPr>
                              </m:ctrlPr>
                            </m:sSupPr>
                            <m:e>
                              <m:r>
                                <a:rPr lang="en-CA" sz="1800" i="1">
                                  <a:solidFill>
                                    <a:srgbClr val="000000"/>
                                  </a:solidFill>
                                  <a:effectLst/>
                                  <a:latin typeface="Cambria Math" panose="02040503050406030204" pitchFamily="18" charset="0"/>
                                  <a:ea typeface="Calibri" panose="020F0502020204030204" pitchFamily="34" charset="0"/>
                                </a:rPr>
                                <m:t>𝑘</m:t>
                              </m:r>
                            </m:e>
                            <m:sup>
                              <m:r>
                                <a:rPr lang="en-CA" sz="1800" i="1">
                                  <a:solidFill>
                                    <a:srgbClr val="000000"/>
                                  </a:solidFill>
                                  <a:effectLst/>
                                  <a:latin typeface="Cambria Math" panose="02040503050406030204" pitchFamily="18" charset="0"/>
                                  <a:ea typeface="Calibri" panose="020F0502020204030204" pitchFamily="34" charset="0"/>
                                </a:rPr>
                                <m:t>2</m:t>
                              </m:r>
                            </m:sup>
                          </m:sSup>
                        </m:num>
                        <m:den>
                          <m:r>
                            <a:rPr lang="en-CA" sz="1800" i="1">
                              <a:solidFill>
                                <a:srgbClr val="000000"/>
                              </a:solidFill>
                              <a:effectLst/>
                              <a:latin typeface="Cambria Math" panose="02040503050406030204" pitchFamily="18" charset="0"/>
                              <a:ea typeface="Calibri" panose="020F0502020204030204" pitchFamily="34" charset="0"/>
                            </a:rPr>
                            <m:t>𝜀</m:t>
                          </m:r>
                        </m:den>
                      </m:f>
                      <m:r>
                        <a:rPr lang="en-CA" sz="1800" i="1">
                          <a:solidFill>
                            <a:srgbClr val="000000"/>
                          </a:solidFill>
                          <a:effectLst/>
                          <a:latin typeface="Cambria Math" panose="02040503050406030204" pitchFamily="18" charset="0"/>
                          <a:ea typeface="Calibri" panose="020F0502020204030204" pitchFamily="34" charset="0"/>
                        </a:rPr>
                        <m:t> </m:t>
                      </m:r>
                      <m:r>
                        <a:rPr lang="en-CA" sz="1800" i="1">
                          <a:solidFill>
                            <a:srgbClr val="000000"/>
                          </a:solidFill>
                          <a:effectLst/>
                          <a:latin typeface="Cambria Math" panose="02040503050406030204" pitchFamily="18" charset="0"/>
                          <a:ea typeface="Calibri" panose="020F0502020204030204" pitchFamily="34" charset="0"/>
                        </a:rPr>
                        <m:t>𝑜𝑟</m:t>
                      </m:r>
                      <m:r>
                        <a:rPr lang="en-CA" sz="1800" i="1">
                          <a:solidFill>
                            <a:srgbClr val="000000"/>
                          </a:solidFill>
                          <a:effectLst/>
                          <a:latin typeface="Cambria Math" panose="02040503050406030204" pitchFamily="18" charset="0"/>
                          <a:ea typeface="Calibri" panose="020F0502020204030204" pitchFamily="34" charset="0"/>
                        </a:rPr>
                        <m:t> </m:t>
                      </m:r>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𝑣</m:t>
                          </m:r>
                        </m:e>
                        <m:sub>
                          <m:r>
                            <a:rPr lang="en-CA" sz="1800" i="1">
                              <a:solidFill>
                                <a:srgbClr val="000000"/>
                              </a:solidFill>
                              <a:effectLst/>
                              <a:latin typeface="Cambria Math" panose="02040503050406030204" pitchFamily="18" charset="0"/>
                              <a:ea typeface="Calibri" panose="020F0502020204030204" pitchFamily="34" charset="0"/>
                            </a:rPr>
                            <m:t>𝑡</m:t>
                          </m:r>
                        </m:sub>
                      </m:sSub>
                      <m:r>
                        <a:rPr lang="en-CA" sz="1800" i="1">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r>
                            <a:rPr lang="en-CA" sz="1800" i="1">
                              <a:solidFill>
                                <a:srgbClr val="000000"/>
                              </a:solidFill>
                              <a:effectLst/>
                              <a:latin typeface="Cambria Math" panose="02040503050406030204" pitchFamily="18" charset="0"/>
                              <a:ea typeface="Calibri" panose="020F0502020204030204" pitchFamily="34" charset="0"/>
                            </a:rPr>
                            <m:t>𝑘</m:t>
                          </m:r>
                        </m:num>
                        <m:den>
                          <m:r>
                            <a:rPr lang="en-CA" sz="1800" i="1">
                              <a:solidFill>
                                <a:srgbClr val="000000"/>
                              </a:solidFill>
                              <a:effectLst/>
                              <a:latin typeface="Cambria Math" panose="02040503050406030204" pitchFamily="18" charset="0"/>
                              <a:ea typeface="Calibri" panose="020F0502020204030204" pitchFamily="34" charset="0"/>
                            </a:rPr>
                            <m:t>𝜔</m:t>
                          </m:r>
                        </m:den>
                      </m:f>
                      <m:r>
                        <a:rPr lang="en-CA" sz="1800" i="1">
                          <a:solidFill>
                            <a:srgbClr val="000000"/>
                          </a:solidFill>
                          <a:effectLst/>
                          <a:latin typeface="Cambria Math" panose="02040503050406030204" pitchFamily="18" charset="0"/>
                          <a:ea typeface="Calibri" panose="020F0502020204030204" pitchFamily="34" charset="0"/>
                        </a:rPr>
                        <m:t> </m:t>
                      </m:r>
                    </m:oMath>
                  </m:oMathPara>
                </a14:m>
                <a:endParaRPr lang="en-CA" sz="1800" dirty="0">
                  <a:effectLst/>
                  <a:latin typeface="Times New Roman" panose="02020603050405020304" pitchFamily="18" charset="0"/>
                  <a:ea typeface="Calibri" panose="020F0502020204030204" pitchFamily="34" charset="0"/>
                </a:endParaRPr>
              </a:p>
              <a:p>
                <a:endParaRPr lang="en-CA" sz="1800" dirty="0">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r>
                  <a:rPr lang="en-CA" dirty="0"/>
                  <a:t>k and ω are calculated using a length scale, l, and a turbulent intensity I. Assuming a length scale that is 10% of the airfoil chord length, and a turbulent intensity of 5%, these values at the inlet can be determined by,  </a:t>
                </a:r>
              </a:p>
              <a:p>
                <a14:m>
                  <m:oMathPara xmlns:m="http://schemas.openxmlformats.org/officeDocument/2006/math">
                    <m:oMathParaPr>
                      <m:jc m:val="centerGroup"/>
                    </m:oMathParaPr>
                    <m:oMath xmlns:m="http://schemas.openxmlformats.org/officeDocument/2006/math">
                      <m:r>
                        <a:rPr lang="en-CA" sz="1800" i="1" smtClean="0">
                          <a:solidFill>
                            <a:srgbClr val="000000"/>
                          </a:solidFill>
                          <a:effectLst/>
                          <a:latin typeface="Cambria Math" panose="02040503050406030204" pitchFamily="18" charset="0"/>
                          <a:ea typeface="Calibri" panose="020F0502020204030204" pitchFamily="34" charset="0"/>
                        </a:rPr>
                        <m:t>𝑘</m:t>
                      </m:r>
                      <m:r>
                        <a:rPr lang="en-CA" sz="1800" i="1" smtClean="0">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r>
                            <a:rPr lang="en-CA" sz="1800" i="1">
                              <a:solidFill>
                                <a:srgbClr val="000000"/>
                              </a:solidFill>
                              <a:effectLst/>
                              <a:latin typeface="Cambria Math" panose="02040503050406030204" pitchFamily="18" charset="0"/>
                              <a:ea typeface="Calibri" panose="020F0502020204030204" pitchFamily="34" charset="0"/>
                            </a:rPr>
                            <m:t>3</m:t>
                          </m:r>
                        </m:num>
                        <m:den>
                          <m:r>
                            <a:rPr lang="en-CA" sz="1800" i="1">
                              <a:solidFill>
                                <a:srgbClr val="000000"/>
                              </a:solidFill>
                              <a:effectLst/>
                              <a:latin typeface="Cambria Math" panose="02040503050406030204" pitchFamily="18" charset="0"/>
                              <a:ea typeface="Calibri" panose="020F0502020204030204" pitchFamily="34" charset="0"/>
                            </a:rPr>
                            <m:t>2</m:t>
                          </m:r>
                        </m:den>
                      </m:f>
                      <m:sSubSup>
                        <m:sSubSupPr>
                          <m:ctrlPr>
                            <a:rPr lang="en-CA" sz="1800" i="1">
                              <a:solidFill>
                                <a:srgbClr val="000000"/>
                              </a:solidFill>
                              <a:effectLst/>
                              <a:latin typeface="Cambria Math" panose="02040503050406030204" pitchFamily="18" charset="0"/>
                              <a:ea typeface="Calibri" panose="020F0502020204030204" pitchFamily="34" charset="0"/>
                            </a:rPr>
                          </m:ctrlPr>
                        </m:sSubSupPr>
                        <m:e>
                          <m:r>
                            <a:rPr lang="en-CA" sz="1800" i="1">
                              <a:solidFill>
                                <a:srgbClr val="000000"/>
                              </a:solidFill>
                              <a:effectLst/>
                              <a:latin typeface="Cambria Math" panose="02040503050406030204" pitchFamily="18" charset="0"/>
                              <a:ea typeface="Calibri" panose="020F0502020204030204" pitchFamily="34" charset="0"/>
                            </a:rPr>
                            <m:t>𝑈</m:t>
                          </m:r>
                        </m:e>
                        <m:sub>
                          <m:r>
                            <a:rPr lang="en-CA" sz="1800" i="1">
                              <a:solidFill>
                                <a:srgbClr val="000000"/>
                              </a:solidFill>
                              <a:effectLst/>
                              <a:latin typeface="Cambria Math" panose="02040503050406030204" pitchFamily="18" charset="0"/>
                              <a:ea typeface="Calibri" panose="020F0502020204030204" pitchFamily="34" charset="0"/>
                            </a:rPr>
                            <m:t>∞</m:t>
                          </m:r>
                        </m:sub>
                        <m:sup>
                          <m:r>
                            <a:rPr lang="en-CA" sz="1800" i="1">
                              <a:solidFill>
                                <a:srgbClr val="000000"/>
                              </a:solidFill>
                              <a:effectLst/>
                              <a:latin typeface="Cambria Math" panose="02040503050406030204" pitchFamily="18" charset="0"/>
                              <a:ea typeface="Calibri" panose="020F0502020204030204" pitchFamily="34" charset="0"/>
                            </a:rPr>
                            <m:t>2</m:t>
                          </m:r>
                        </m:sup>
                      </m:sSubSup>
                      <m:sSup>
                        <m:sSupPr>
                          <m:ctrlPr>
                            <a:rPr lang="en-CA" sz="1800" i="1">
                              <a:solidFill>
                                <a:srgbClr val="000000"/>
                              </a:solidFill>
                              <a:effectLst/>
                              <a:latin typeface="Cambria Math" panose="02040503050406030204" pitchFamily="18" charset="0"/>
                              <a:ea typeface="Calibri" panose="020F0502020204030204" pitchFamily="34" charset="0"/>
                            </a:rPr>
                          </m:ctrlPr>
                        </m:sSupPr>
                        <m:e>
                          <m:r>
                            <a:rPr lang="en-CA" sz="1800" i="1">
                              <a:solidFill>
                                <a:srgbClr val="000000"/>
                              </a:solidFill>
                              <a:effectLst/>
                              <a:latin typeface="Cambria Math" panose="02040503050406030204" pitchFamily="18" charset="0"/>
                              <a:ea typeface="Calibri" panose="020F0502020204030204" pitchFamily="34" charset="0"/>
                            </a:rPr>
                            <m:t>𝐼</m:t>
                          </m:r>
                        </m:e>
                        <m:sup>
                          <m:r>
                            <a:rPr lang="en-CA" sz="1800" i="1">
                              <a:solidFill>
                                <a:srgbClr val="000000"/>
                              </a:solidFill>
                              <a:effectLst/>
                              <a:latin typeface="Cambria Math" panose="02040503050406030204" pitchFamily="18" charset="0"/>
                              <a:ea typeface="Calibri" panose="020F0502020204030204" pitchFamily="34" charset="0"/>
                            </a:rPr>
                            <m:t>2</m:t>
                          </m:r>
                        </m:sup>
                      </m:sSup>
                      <m:r>
                        <a:rPr lang="en-CA" sz="1800" i="1">
                          <a:solidFill>
                            <a:srgbClr val="000000"/>
                          </a:solidFill>
                          <a:effectLst/>
                          <a:latin typeface="Cambria Math" panose="02040503050406030204" pitchFamily="18" charset="0"/>
                          <a:ea typeface="Calibri" panose="020F0502020204030204" pitchFamily="34" charset="0"/>
                        </a:rPr>
                        <m:t>,  </m:t>
                      </m:r>
                      <m:r>
                        <a:rPr lang="en-CA" sz="1800" i="1">
                          <a:solidFill>
                            <a:srgbClr val="000000"/>
                          </a:solidFill>
                          <a:effectLst/>
                          <a:latin typeface="Cambria Math" panose="02040503050406030204" pitchFamily="18" charset="0"/>
                          <a:ea typeface="Calibri" panose="020F0502020204030204" pitchFamily="34" charset="0"/>
                        </a:rPr>
                        <m:t>𝜀</m:t>
                      </m:r>
                      <m:r>
                        <a:rPr lang="en-CA" sz="1800" i="1">
                          <a:solidFill>
                            <a:srgbClr val="000000"/>
                          </a:solidFill>
                          <a:effectLst/>
                          <a:latin typeface="Cambria Math" panose="02040503050406030204" pitchFamily="18" charset="0"/>
                          <a:ea typeface="Calibri" panose="020F0502020204030204" pitchFamily="34" charset="0"/>
                        </a:rPr>
                        <m:t>=</m:t>
                      </m:r>
                      <m:f>
                        <m:fPr>
                          <m:ctrlPr>
                            <a:rPr lang="en-CA" sz="1800" i="1">
                              <a:solidFill>
                                <a:srgbClr val="000000"/>
                              </a:solidFill>
                              <a:effectLst/>
                              <a:latin typeface="Cambria Math" panose="02040503050406030204" pitchFamily="18" charset="0"/>
                              <a:ea typeface="Calibri" panose="020F0502020204030204" pitchFamily="34" charset="0"/>
                            </a:rPr>
                          </m:ctrlPr>
                        </m:fPr>
                        <m:num>
                          <m:sSub>
                            <m:sSubPr>
                              <m:ctrlPr>
                                <a:rPr lang="en-CA" sz="1800" i="1">
                                  <a:solidFill>
                                    <a:srgbClr val="000000"/>
                                  </a:solidFill>
                                  <a:effectLst/>
                                  <a:latin typeface="Cambria Math" panose="02040503050406030204" pitchFamily="18" charset="0"/>
                                  <a:ea typeface="Calibri" panose="020F0502020204030204" pitchFamily="34" charset="0"/>
                                </a:rPr>
                              </m:ctrlPr>
                            </m:sSubPr>
                            <m:e>
                              <m:r>
                                <a:rPr lang="en-CA" sz="1800" i="1">
                                  <a:solidFill>
                                    <a:srgbClr val="000000"/>
                                  </a:solidFill>
                                  <a:effectLst/>
                                  <a:latin typeface="Cambria Math" panose="02040503050406030204" pitchFamily="18" charset="0"/>
                                  <a:ea typeface="Calibri" panose="020F0502020204030204" pitchFamily="34" charset="0"/>
                                </a:rPr>
                                <m:t>𝐶</m:t>
                              </m:r>
                            </m:e>
                            <m:sub>
                              <m:r>
                                <a:rPr lang="en-CA" sz="1800" i="1">
                                  <a:solidFill>
                                    <a:srgbClr val="000000"/>
                                  </a:solidFill>
                                  <a:effectLst/>
                                  <a:latin typeface="Cambria Math" panose="02040503050406030204" pitchFamily="18" charset="0"/>
                                  <a:ea typeface="Calibri" panose="020F0502020204030204" pitchFamily="34" charset="0"/>
                                </a:rPr>
                                <m:t>𝜇</m:t>
                              </m:r>
                            </m:sub>
                          </m:sSub>
                          <m:sSup>
                            <m:sSupPr>
                              <m:ctrlPr>
                                <a:rPr lang="en-CA" sz="1800" i="1">
                                  <a:solidFill>
                                    <a:srgbClr val="000000"/>
                                  </a:solidFill>
                                  <a:effectLst/>
                                  <a:latin typeface="Cambria Math" panose="02040503050406030204" pitchFamily="18" charset="0"/>
                                  <a:ea typeface="Calibri" panose="020F0502020204030204" pitchFamily="34" charset="0"/>
                                </a:rPr>
                              </m:ctrlPr>
                            </m:sSupPr>
                            <m:e>
                              <m:r>
                                <a:rPr lang="en-CA" sz="1800" i="1">
                                  <a:solidFill>
                                    <a:srgbClr val="000000"/>
                                  </a:solidFill>
                                  <a:effectLst/>
                                  <a:latin typeface="Cambria Math" panose="02040503050406030204" pitchFamily="18" charset="0"/>
                                  <a:ea typeface="Calibri" panose="020F0502020204030204" pitchFamily="34" charset="0"/>
                                </a:rPr>
                                <m:t>𝑘</m:t>
                              </m:r>
                            </m:e>
                            <m:sup>
                              <m:f>
                                <m:fPr>
                                  <m:ctrlPr>
                                    <a:rPr lang="en-CA" sz="1800" i="1">
                                      <a:solidFill>
                                        <a:srgbClr val="000000"/>
                                      </a:solidFill>
                                      <a:effectLst/>
                                      <a:latin typeface="Cambria Math" panose="02040503050406030204" pitchFamily="18" charset="0"/>
                                      <a:ea typeface="Calibri" panose="020F0502020204030204" pitchFamily="34" charset="0"/>
                                    </a:rPr>
                                  </m:ctrlPr>
                                </m:fPr>
                                <m:num>
                                  <m:r>
                                    <a:rPr lang="en-CA" sz="1800" i="1">
                                      <a:solidFill>
                                        <a:srgbClr val="000000"/>
                                      </a:solidFill>
                                      <a:effectLst/>
                                      <a:latin typeface="Cambria Math" panose="02040503050406030204" pitchFamily="18" charset="0"/>
                                      <a:ea typeface="Calibri" panose="020F0502020204030204" pitchFamily="34" charset="0"/>
                                    </a:rPr>
                                    <m:t>3</m:t>
                                  </m:r>
                                </m:num>
                                <m:den>
                                  <m:r>
                                    <a:rPr lang="en-CA" sz="1800" i="1">
                                      <a:solidFill>
                                        <a:srgbClr val="000000"/>
                                      </a:solidFill>
                                      <a:effectLst/>
                                      <a:latin typeface="Cambria Math" panose="02040503050406030204" pitchFamily="18" charset="0"/>
                                      <a:ea typeface="Calibri" panose="020F0502020204030204" pitchFamily="34" charset="0"/>
                                    </a:rPr>
                                    <m:t>2</m:t>
                                  </m:r>
                                </m:den>
                              </m:f>
                            </m:sup>
                          </m:sSup>
                        </m:num>
                        <m:den>
                          <m:r>
                            <a:rPr lang="en-CA" sz="1800" i="1">
                              <a:solidFill>
                                <a:srgbClr val="000000"/>
                              </a:solidFill>
                              <a:effectLst/>
                              <a:latin typeface="Cambria Math" panose="02040503050406030204" pitchFamily="18" charset="0"/>
                              <a:ea typeface="Calibri" panose="020F0502020204030204" pitchFamily="34" charset="0"/>
                            </a:rPr>
                            <m:t>𝑙</m:t>
                          </m:r>
                        </m:den>
                      </m:f>
                    </m:oMath>
                  </m:oMathPara>
                </a14:m>
                <a:endParaRPr lang="en-CA" sz="1800" dirty="0">
                  <a:effectLst/>
                  <a:latin typeface="Times New Roman" panose="02020603050405020304" pitchFamily="18" charset="0"/>
                  <a:ea typeface="Calibri" panose="020F0502020204030204" pitchFamily="34" charset="0"/>
                </a:endParaRPr>
              </a:p>
              <a:p>
                <a:pPr marL="285750" indent="-285750">
                  <a:buFont typeface="Arial" panose="020B0604020202020204" pitchFamily="34" charset="0"/>
                  <a:buChar char="•"/>
                </a:pPr>
                <a:endParaRPr lang="en-CA" dirty="0"/>
              </a:p>
            </p:txBody>
          </p:sp>
        </mc:Choice>
        <mc:Fallback>
          <p:sp>
            <p:nvSpPr>
              <p:cNvPr id="2" name="Text Placeholder 1">
                <a:extLst>
                  <a:ext uri="{FF2B5EF4-FFF2-40B4-BE49-F238E27FC236}">
                    <a16:creationId xmlns:a16="http://schemas.microsoft.com/office/drawing/2014/main" id="{EA704A0E-FEEB-8B3A-3A57-8C66E546A324}"/>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1432" t="-226"/>
                </a:stretch>
              </a:blipFill>
            </p:spPr>
            <p:txBody>
              <a:bodyPr/>
              <a:lstStyle/>
              <a:p>
                <a:r>
                  <a:rPr lang="en-CA">
                    <a:noFill/>
                  </a:rPr>
                  <a:t> </a:t>
                </a:r>
              </a:p>
            </p:txBody>
          </p:sp>
        </mc:Fallback>
      </mc:AlternateContent>
      <p:sp>
        <p:nvSpPr>
          <p:cNvPr id="3" name="Title 2">
            <a:extLst>
              <a:ext uri="{FF2B5EF4-FFF2-40B4-BE49-F238E27FC236}">
                <a16:creationId xmlns:a16="http://schemas.microsoft.com/office/drawing/2014/main" id="{DED792FB-0515-B2C5-7070-FDA21CF0A452}"/>
              </a:ext>
            </a:extLst>
          </p:cNvPr>
          <p:cNvSpPr>
            <a:spLocks noGrp="1"/>
          </p:cNvSpPr>
          <p:nvPr>
            <p:ph type="title"/>
          </p:nvPr>
        </p:nvSpPr>
        <p:spPr/>
        <p:txBody>
          <a:bodyPr/>
          <a:lstStyle/>
          <a:p>
            <a:r>
              <a:rPr lang="en-US" dirty="0"/>
              <a:t>Boundary conditions</a:t>
            </a:r>
            <a:endParaRPr lang="en-CA" dirty="0"/>
          </a:p>
        </p:txBody>
      </p:sp>
    </p:spTree>
    <p:extLst>
      <p:ext uri="{BB962C8B-B14F-4D97-AF65-F5344CB8AC3E}">
        <p14:creationId xmlns:p14="http://schemas.microsoft.com/office/powerpoint/2010/main" val="94119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D2E9E3-0799-9F4B-BA05-676EEBD5E863}"/>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This model proved to give much better results for boundary layer flows subjected to adverse pressure gradients than previous models did. </a:t>
            </a:r>
          </a:p>
          <a:p>
            <a:pPr marL="285750" indent="-285750">
              <a:buFont typeface="Arial" panose="020B0604020202020204" pitchFamily="34" charset="0"/>
              <a:buChar char="•"/>
            </a:pPr>
            <a:r>
              <a:rPr lang="en-US" dirty="0"/>
              <a:t>This model is local. That is, solving for the turbulent viscosity happens independently for each cell. This leads to ease of use for unstructured, or multi-block grids.</a:t>
            </a:r>
          </a:p>
          <a:p>
            <a:pPr marL="285750" indent="-285750">
              <a:buFont typeface="Arial" panose="020B0604020202020204" pitchFamily="34" charset="0"/>
              <a:buChar char="•"/>
            </a:pPr>
            <a:r>
              <a:rPr lang="en-US" dirty="0"/>
              <a:t>This model only has 1 transport equation to solve for the turbulent viscosity. This improves computational efficiency.</a:t>
            </a:r>
          </a:p>
          <a:p>
            <a:pPr marL="285750" indent="-285750">
              <a:buFont typeface="Arial" panose="020B0604020202020204" pitchFamily="34" charset="0"/>
              <a:buChar char="•"/>
            </a:pPr>
            <a:r>
              <a:rPr lang="en-US" dirty="0"/>
              <a:t>Due to the linear nature of the modified turbulent viscosity, this model shows good convergence. </a:t>
            </a:r>
          </a:p>
          <a:p>
            <a:pPr marL="285750" indent="-285750">
              <a:buFont typeface="Arial" panose="020B0604020202020204" pitchFamily="34" charset="0"/>
              <a:buChar char="•"/>
            </a:pPr>
            <a:r>
              <a:rPr lang="en-US" dirty="0"/>
              <a:t>The boundary conditions for this model are simple to apply. </a:t>
            </a:r>
          </a:p>
          <a:p>
            <a:endParaRPr lang="en-US" dirty="0"/>
          </a:p>
          <a:p>
            <a:endParaRPr lang="en-CA" dirty="0"/>
          </a:p>
        </p:txBody>
      </p:sp>
      <p:sp>
        <p:nvSpPr>
          <p:cNvPr id="3" name="Title 2">
            <a:extLst>
              <a:ext uri="{FF2B5EF4-FFF2-40B4-BE49-F238E27FC236}">
                <a16:creationId xmlns:a16="http://schemas.microsoft.com/office/drawing/2014/main" id="{C01E8E86-91B5-9ED3-AB5E-DE49843A3A50}"/>
              </a:ext>
            </a:extLst>
          </p:cNvPr>
          <p:cNvSpPr>
            <a:spLocks noGrp="1"/>
          </p:cNvSpPr>
          <p:nvPr>
            <p:ph type="title"/>
          </p:nvPr>
        </p:nvSpPr>
        <p:spPr/>
        <p:txBody>
          <a:bodyPr/>
          <a:lstStyle/>
          <a:p>
            <a:r>
              <a:rPr lang="en-US" dirty="0"/>
              <a:t>Benefits of this Model</a:t>
            </a:r>
            <a:endParaRPr lang="en-CA" dirty="0"/>
          </a:p>
        </p:txBody>
      </p:sp>
    </p:spTree>
    <p:extLst>
      <p:ext uri="{BB962C8B-B14F-4D97-AF65-F5344CB8AC3E}">
        <p14:creationId xmlns:p14="http://schemas.microsoft.com/office/powerpoint/2010/main" val="148897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DAABF9-5EC1-BA32-A3FD-BB9EDF194DF4}"/>
              </a:ext>
            </a:extLst>
          </p:cNvPr>
          <p:cNvSpPr>
            <a:spLocks noGrp="1"/>
          </p:cNvSpPr>
          <p:nvPr>
            <p:ph type="body" sz="quarter" idx="13"/>
          </p:nvPr>
        </p:nvSpPr>
        <p:spPr/>
        <p:txBody>
          <a:bodyPr/>
          <a:lstStyle/>
          <a:p>
            <a:pPr marL="285750" indent="-285750">
              <a:buFont typeface="Arial" panose="020B0604020202020204" pitchFamily="34" charset="0"/>
              <a:buChar char="•"/>
            </a:pPr>
            <a:r>
              <a:rPr lang="en-US" dirty="0"/>
              <a:t>This model tends to under predict flow separation, and often does not predict flow separation in the correct location on the airfoil. </a:t>
            </a:r>
          </a:p>
          <a:p>
            <a:pPr marL="285750" indent="-285750">
              <a:buFont typeface="Arial" panose="020B0604020202020204" pitchFamily="34" charset="0"/>
              <a:buChar char="•"/>
            </a:pPr>
            <a:r>
              <a:rPr lang="en-US" dirty="0"/>
              <a:t>This model does not predict flow reattachment post-shock on an airfoil well. </a:t>
            </a:r>
          </a:p>
          <a:p>
            <a:pPr marL="285750" indent="-285750">
              <a:buFont typeface="Arial" panose="020B0604020202020204" pitchFamily="34" charset="0"/>
              <a:buChar char="•"/>
            </a:pPr>
            <a:r>
              <a:rPr lang="en-US" dirty="0"/>
              <a:t>This model does not define turbulence length and time scales as well as other models, such as k-</a:t>
            </a:r>
            <a:r>
              <a:rPr lang="el-GR" dirty="0"/>
              <a:t>ω</a:t>
            </a:r>
            <a:r>
              <a:rPr lang="en-US" dirty="0"/>
              <a:t> SST.</a:t>
            </a:r>
            <a:endParaRPr lang="en-CA" dirty="0"/>
          </a:p>
        </p:txBody>
      </p:sp>
      <p:sp>
        <p:nvSpPr>
          <p:cNvPr id="3" name="Title 2">
            <a:extLst>
              <a:ext uri="{FF2B5EF4-FFF2-40B4-BE49-F238E27FC236}">
                <a16:creationId xmlns:a16="http://schemas.microsoft.com/office/drawing/2014/main" id="{D699DE2C-AF42-7558-A0B1-7C1ACA7D4C25}"/>
              </a:ext>
            </a:extLst>
          </p:cNvPr>
          <p:cNvSpPr>
            <a:spLocks noGrp="1"/>
          </p:cNvSpPr>
          <p:nvPr>
            <p:ph type="title"/>
          </p:nvPr>
        </p:nvSpPr>
        <p:spPr/>
        <p:txBody>
          <a:bodyPr/>
          <a:lstStyle/>
          <a:p>
            <a:r>
              <a:rPr lang="en-US" dirty="0"/>
              <a:t>Shortcomings of this Model</a:t>
            </a:r>
            <a:endParaRPr lang="en-CA" dirty="0"/>
          </a:p>
        </p:txBody>
      </p:sp>
    </p:spTree>
    <p:extLst>
      <p:ext uri="{BB962C8B-B14F-4D97-AF65-F5344CB8AC3E}">
        <p14:creationId xmlns:p14="http://schemas.microsoft.com/office/powerpoint/2010/main" val="872694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7A4E3A-A1C9-F7AE-CE71-17D4908B4AEA}"/>
              </a:ext>
            </a:extLst>
          </p:cNvPr>
          <p:cNvSpPr>
            <a:spLocks noGrp="1"/>
          </p:cNvSpPr>
          <p:nvPr>
            <p:ph type="body" sz="quarter" idx="13"/>
          </p:nvPr>
        </p:nvSpPr>
        <p:spPr/>
        <p:txBody>
          <a:bodyPr/>
          <a:lstStyle/>
          <a:p>
            <a:endParaRPr lang="en-CA"/>
          </a:p>
        </p:txBody>
      </p:sp>
      <p:sp>
        <p:nvSpPr>
          <p:cNvPr id="3" name="Title 2">
            <a:extLst>
              <a:ext uri="{FF2B5EF4-FFF2-40B4-BE49-F238E27FC236}">
                <a16:creationId xmlns:a16="http://schemas.microsoft.com/office/drawing/2014/main" id="{75D5FC0A-A5CE-7B0B-EA63-E32E1E50382E}"/>
              </a:ext>
            </a:extLst>
          </p:cNvPr>
          <p:cNvSpPr>
            <a:spLocks noGrp="1"/>
          </p:cNvSpPr>
          <p:nvPr>
            <p:ph type="title"/>
          </p:nvPr>
        </p:nvSpPr>
        <p:spPr/>
        <p:txBody>
          <a:bodyPr/>
          <a:lstStyle/>
          <a:p>
            <a:r>
              <a:rPr lang="en-US" dirty="0"/>
              <a:t>Questions</a:t>
            </a:r>
            <a:endParaRPr lang="en-CA" dirty="0"/>
          </a:p>
        </p:txBody>
      </p:sp>
    </p:spTree>
    <p:extLst>
      <p:ext uri="{BB962C8B-B14F-4D97-AF65-F5344CB8AC3E}">
        <p14:creationId xmlns:p14="http://schemas.microsoft.com/office/powerpoint/2010/main" val="1050501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F2A81A-455D-1E3A-9F50-0D7E9BA22F24}"/>
              </a:ext>
            </a:extLst>
          </p:cNvPr>
          <p:cNvSpPr>
            <a:spLocks noGrp="1"/>
          </p:cNvSpPr>
          <p:nvPr>
            <p:ph type="title"/>
          </p:nvPr>
        </p:nvSpPr>
        <p:spPr/>
        <p:txBody>
          <a:bodyPr/>
          <a:lstStyle/>
          <a:p>
            <a:r>
              <a:rPr lang="en-US" dirty="0"/>
              <a:t>References</a:t>
            </a:r>
            <a:endParaRPr lang="en-CA" dirty="0"/>
          </a:p>
        </p:txBody>
      </p:sp>
      <p:sp>
        <p:nvSpPr>
          <p:cNvPr id="4" name="Rectangle 1">
            <a:extLst>
              <a:ext uri="{FF2B5EF4-FFF2-40B4-BE49-F238E27FC236}">
                <a16:creationId xmlns:a16="http://schemas.microsoft.com/office/drawing/2014/main" id="{3C1D1920-553D-DD98-5D00-29AE9E8620CC}"/>
              </a:ext>
            </a:extLst>
          </p:cNvPr>
          <p:cNvSpPr>
            <a:spLocks noGrp="1" noChangeArrowheads="1"/>
          </p:cNvSpPr>
          <p:nvPr>
            <p:ph type="body" sz="quarter" idx="13"/>
          </p:nvPr>
        </p:nvSpPr>
        <p:spPr bwMode="auto">
          <a:xfrm>
            <a:off x="438954" y="1578773"/>
            <a:ext cx="8894038" cy="4499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CA" sz="1600" dirty="0">
                <a:effectLst/>
              </a:rPr>
              <a:t>[1] - “Flow separation,” </a:t>
            </a:r>
            <a:r>
              <a:rPr lang="en-CA" sz="1600" i="1" dirty="0">
                <a:effectLst/>
              </a:rPr>
              <a:t>Wikipedia</a:t>
            </a:r>
            <a:r>
              <a:rPr lang="en-CA" sz="1600" dirty="0">
                <a:effectLst/>
              </a:rPr>
              <a:t>, 11-Jun-2022. [Online]. </a:t>
            </a:r>
          </a:p>
          <a:p>
            <a:r>
              <a:rPr lang="en-CA" sz="1600" dirty="0">
                <a:effectLst/>
              </a:rPr>
              <a:t>Available: https://en.wikipedia.org/wiki/Flow_separation. [Accessed: 26-Mar-2023]. </a:t>
            </a:r>
          </a:p>
          <a:p>
            <a:endParaRPr lang="en-CA" sz="1600" dirty="0">
              <a:effectLst/>
            </a:endParaRPr>
          </a:p>
          <a:p>
            <a:r>
              <a:rPr lang="en-CA" sz="1600" dirty="0">
                <a:effectLst/>
              </a:rPr>
              <a:t>[2] - G. </a:t>
            </a:r>
            <a:r>
              <a:rPr lang="en-CA" sz="1600" dirty="0" err="1">
                <a:effectLst/>
              </a:rPr>
              <a:t>Kalitzin</a:t>
            </a:r>
            <a:r>
              <a:rPr lang="en-CA" sz="1600" dirty="0">
                <a:effectLst/>
              </a:rPr>
              <a:t>, G. Medic, G. </a:t>
            </a:r>
            <a:r>
              <a:rPr lang="en-CA" sz="1600" dirty="0" err="1">
                <a:effectLst/>
              </a:rPr>
              <a:t>Iaccarino</a:t>
            </a:r>
            <a:r>
              <a:rPr lang="en-CA" sz="1600" dirty="0">
                <a:effectLst/>
              </a:rPr>
              <a:t>, and P. Durbin, </a:t>
            </a:r>
          </a:p>
          <a:p>
            <a:r>
              <a:rPr lang="en-CA" sz="1600" dirty="0">
                <a:effectLst/>
              </a:rPr>
              <a:t>“Near-wall behavior of Rans Turbulence models and implications for wall functions,” </a:t>
            </a:r>
          </a:p>
          <a:p>
            <a:r>
              <a:rPr lang="en-CA" sz="1600" i="1" dirty="0">
                <a:effectLst/>
              </a:rPr>
              <a:t>Journal of Computational Physics</a:t>
            </a:r>
            <a:r>
              <a:rPr lang="en-CA" sz="1600" dirty="0">
                <a:effectLst/>
              </a:rPr>
              <a:t>, vol. 204, no. 1, pp. 265–291, 2005. </a:t>
            </a:r>
          </a:p>
          <a:p>
            <a:endParaRPr lang="en-CA" sz="1600" dirty="0">
              <a:effectLst/>
            </a:endParaRPr>
          </a:p>
          <a:p>
            <a:r>
              <a:rPr lang="en-CA" sz="1600" dirty="0">
                <a:effectLst/>
              </a:rPr>
              <a:t>[3] - P. SPALART and S. ALLMARAS, “A one-equation turbulence model for aerodynamic flows,”</a:t>
            </a:r>
          </a:p>
          <a:p>
            <a:r>
              <a:rPr lang="en-CA" sz="1600" dirty="0">
                <a:effectLst/>
              </a:rPr>
              <a:t> </a:t>
            </a:r>
            <a:r>
              <a:rPr lang="en-CA" sz="1600" i="1" dirty="0">
                <a:effectLst/>
              </a:rPr>
              <a:t>30th Aerospace Sciences Meeting and Exhibit</a:t>
            </a:r>
            <a:r>
              <a:rPr lang="en-CA" sz="1600" dirty="0">
                <a:effectLst/>
              </a:rPr>
              <a:t>, 1992. </a:t>
            </a:r>
          </a:p>
          <a:p>
            <a:endParaRPr lang="en-CA" sz="1600" dirty="0">
              <a:effectLst/>
            </a:endParaRPr>
          </a:p>
          <a:p>
            <a:r>
              <a:rPr lang="en-CA" sz="1600" dirty="0">
                <a:effectLst/>
              </a:rPr>
              <a:t>[4] - X. Meng, Z. </a:t>
            </a:r>
            <a:r>
              <a:rPr lang="en-CA" sz="1600" dirty="0" err="1">
                <a:effectLst/>
              </a:rPr>
              <a:t>Zuo</a:t>
            </a:r>
            <a:r>
              <a:rPr lang="en-CA" sz="1600" dirty="0">
                <a:effectLst/>
              </a:rPr>
              <a:t>, M. Nishi, and S. Liu, “A numerical study on the flow mechanism of </a:t>
            </a:r>
          </a:p>
          <a:p>
            <a:r>
              <a:rPr lang="en-CA" sz="1600" dirty="0">
                <a:effectLst/>
              </a:rPr>
              <a:t>performance improvement of a wide-angle diffuser by inserting a short splitter Vane,” </a:t>
            </a:r>
          </a:p>
          <a:p>
            <a:r>
              <a:rPr lang="en-CA" sz="1600" i="1" dirty="0">
                <a:effectLst/>
              </a:rPr>
              <a:t>Processes</a:t>
            </a:r>
            <a:r>
              <a:rPr lang="en-CA" sz="1600" dirty="0">
                <a:effectLst/>
              </a:rPr>
              <a:t>, vol. 8, no. 2, p. 143, 2020.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CA" altLang="en-US" sz="16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CA"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5800400"/>
      </p:ext>
    </p:extLst>
  </p:cSld>
  <p:clrMapOvr>
    <a:masterClrMapping/>
  </p:clrMapOvr>
</p:sld>
</file>

<file path=ppt/theme/theme1.xml><?xml version="1.0" encoding="utf-8"?>
<a:theme xmlns:a="http://schemas.openxmlformats.org/drawingml/2006/main" name="Office Theme">
  <a:themeElements>
    <a:clrScheme name="UBC Brand 1">
      <a:dk1>
        <a:srgbClr val="002040"/>
      </a:dk1>
      <a:lt1>
        <a:sysClr val="window" lastClr="FFFFFF"/>
      </a:lt1>
      <a:dk2>
        <a:srgbClr val="486B7F"/>
      </a:dk2>
      <a:lt2>
        <a:srgbClr val="EEECE1"/>
      </a:lt2>
      <a:accent1>
        <a:srgbClr val="002040"/>
      </a:accent1>
      <a:accent2>
        <a:srgbClr val="2E526B"/>
      </a:accent2>
      <a:accent3>
        <a:srgbClr val="6A8999"/>
      </a:accent3>
      <a:accent4>
        <a:srgbClr val="A7B9C1"/>
      </a:accent4>
      <a:accent5>
        <a:srgbClr val="BECBD0"/>
      </a:accent5>
      <a:accent6>
        <a:srgbClr val="D0DCD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6329</TotalTime>
  <Words>1324</Words>
  <Application>Microsoft Office PowerPoint</Application>
  <PresentationFormat>On-screen Show (4:3)</PresentationFormat>
  <Paragraphs>112</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Calibri</vt:lpstr>
      <vt:lpstr>Cambria Math</vt:lpstr>
      <vt:lpstr>Times New Roman</vt:lpstr>
      <vt:lpstr>Whitney Book</vt:lpstr>
      <vt:lpstr>Office Theme</vt:lpstr>
      <vt:lpstr>Spalart-Allmaras Turbulence Model</vt:lpstr>
      <vt:lpstr>Agenda</vt:lpstr>
      <vt:lpstr>Background</vt:lpstr>
      <vt:lpstr>Background (cont)</vt:lpstr>
      <vt:lpstr>Goals in Developing the Model</vt:lpstr>
      <vt:lpstr>Mathematical Description</vt:lpstr>
      <vt:lpstr>Turbulent Viscosity</vt:lpstr>
      <vt:lpstr>Modified Turbulent Viscosity</vt:lpstr>
      <vt:lpstr>Solving for real turbulent viscosity</vt:lpstr>
      <vt:lpstr>Boundary conditions</vt:lpstr>
      <vt:lpstr>Benefits of this Model</vt:lpstr>
      <vt:lpstr>Shortcomings of this Model</vt:lpstr>
      <vt:lpstr>Questions</vt:lpstr>
      <vt:lpstr>References</vt:lpstr>
    </vt:vector>
  </TitlesOfParts>
  <Manager/>
  <Company>UBC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UBC Powerpoint template (text)</dc:title>
  <dc:subject/>
  <dc:creator>Christian Rowsell</dc:creator>
  <cp:keywords/>
  <dc:description/>
  <cp:lastModifiedBy>Christian Rowsell</cp:lastModifiedBy>
  <cp:revision>265</cp:revision>
  <cp:lastPrinted>2015-09-29T17:52:21Z</cp:lastPrinted>
  <dcterms:created xsi:type="dcterms:W3CDTF">2010-06-15T20:07:28Z</dcterms:created>
  <dcterms:modified xsi:type="dcterms:W3CDTF">2023-03-27T04:17:12Z</dcterms:modified>
  <cp:category/>
</cp:coreProperties>
</file>